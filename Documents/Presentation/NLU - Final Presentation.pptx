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59DA57-1C1D-40DD-961E-476D9E7D03B7}" v="2" dt="2026-07-01T10:31:27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74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דור משיח" userId="b4ed2005-0829-4553-ba4c-05307629de5e" providerId="ADAL" clId="{8CA97C3E-2024-4084-9B01-E2F77B18DCB6}"/>
    <pc:docChg chg="custSel modSld">
      <pc:chgData name="לידור משיח" userId="b4ed2005-0829-4553-ba4c-05307629de5e" providerId="ADAL" clId="{8CA97C3E-2024-4084-9B01-E2F77B18DCB6}" dt="2026-07-01T10:33:28" v="389" actId="1076"/>
      <pc:docMkLst>
        <pc:docMk/>
      </pc:docMkLst>
      <pc:sldChg chg="modSp mod">
        <pc:chgData name="לידור משיח" userId="b4ed2005-0829-4553-ba4c-05307629de5e" providerId="ADAL" clId="{8CA97C3E-2024-4084-9B01-E2F77B18DCB6}" dt="2026-07-01T10:30:58.903" v="47" actId="27636"/>
        <pc:sldMkLst>
          <pc:docMk/>
          <pc:sldMk cId="0" sldId="257"/>
        </pc:sldMkLst>
        <pc:spChg chg="mod">
          <ac:chgData name="לידור משיח" userId="b4ed2005-0829-4553-ba4c-05307629de5e" providerId="ADAL" clId="{8CA97C3E-2024-4084-9B01-E2F77B18DCB6}" dt="2026-07-01T10:30:58.894" v="43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01" v="46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99" v="45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96" v="44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91" v="42" actId="276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03" v="47" actId="27636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915" v="50" actId="27636"/>
        <pc:sldMkLst>
          <pc:docMk/>
          <pc:sldMk cId="0" sldId="258"/>
        </pc:sldMkLst>
        <pc:spChg chg="mod">
          <ac:chgData name="לידור משיח" userId="b4ed2005-0829-4553-ba4c-05307629de5e" providerId="ADAL" clId="{8CA97C3E-2024-4084-9B01-E2F77B18DCB6}" dt="2026-07-01T10:30:58.912" v="49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15" v="50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10" v="48" actId="27636"/>
          <ac:spMkLst>
            <pc:docMk/>
            <pc:sldMk cId="0" sldId="258"/>
            <ac:spMk id="22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928" v="53" actId="27636"/>
        <pc:sldMkLst>
          <pc:docMk/>
          <pc:sldMk cId="0" sldId="259"/>
        </pc:sldMkLst>
        <pc:spChg chg="mod">
          <ac:chgData name="לידור משיח" userId="b4ed2005-0829-4553-ba4c-05307629de5e" providerId="ADAL" clId="{8CA97C3E-2024-4084-9B01-E2F77B18DCB6}" dt="2026-07-01T10:30:58.926" v="52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28" v="53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24" v="51" actId="2763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950" v="60" actId="27636"/>
        <pc:sldMkLst>
          <pc:docMk/>
          <pc:sldMk cId="0" sldId="260"/>
        </pc:sldMkLst>
        <pc:spChg chg="mod">
          <ac:chgData name="לידור משיח" userId="b4ed2005-0829-4553-ba4c-05307629de5e" providerId="ADAL" clId="{8CA97C3E-2024-4084-9B01-E2F77B18DCB6}" dt="2026-07-01T10:30:58.944" v="58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41" v="57" actId="276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50" v="60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46" v="59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34" v="54" actId="276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39" v="56" actId="2763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37" v="55" actId="27636"/>
          <ac:spMkLst>
            <pc:docMk/>
            <pc:sldMk cId="0" sldId="260"/>
            <ac:spMk id="30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965" v="64" actId="27636"/>
        <pc:sldMkLst>
          <pc:docMk/>
          <pc:sldMk cId="0" sldId="261"/>
        </pc:sldMkLst>
        <pc:spChg chg="mod">
          <ac:chgData name="לידור משיח" userId="b4ed2005-0829-4553-ba4c-05307629de5e" providerId="ADAL" clId="{8CA97C3E-2024-4084-9B01-E2F77B18DCB6}" dt="2026-07-01T10:30:58.961" v="62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59" v="61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63" v="63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65" v="64" actId="27636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974" v="66" actId="27636"/>
        <pc:sldMkLst>
          <pc:docMk/>
          <pc:sldMk cId="0" sldId="262"/>
        </pc:sldMkLst>
        <pc:spChg chg="mod">
          <ac:chgData name="לידור משיח" userId="b4ed2005-0829-4553-ba4c-05307629de5e" providerId="ADAL" clId="{8CA97C3E-2024-4084-9B01-E2F77B18DCB6}" dt="2026-07-01T10:30:58.972" v="65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74" v="66" actId="27636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990" v="71" actId="27636"/>
        <pc:sldMkLst>
          <pc:docMk/>
          <pc:sldMk cId="0" sldId="263"/>
        </pc:sldMkLst>
        <pc:spChg chg="mod">
          <ac:chgData name="לידור משיח" userId="b4ed2005-0829-4553-ba4c-05307629de5e" providerId="ADAL" clId="{8CA97C3E-2024-4084-9B01-E2F77B18DCB6}" dt="2026-07-01T10:30:58.981" v="68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79" v="67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90" v="71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85" v="69" actId="276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987" v="70" actId="27636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007" v="75" actId="27636"/>
        <pc:sldMkLst>
          <pc:docMk/>
          <pc:sldMk cId="0" sldId="264"/>
        </pc:sldMkLst>
        <pc:spChg chg="mod">
          <ac:chgData name="לידור משיח" userId="b4ed2005-0829-4553-ba4c-05307629de5e" providerId="ADAL" clId="{8CA97C3E-2024-4084-9B01-E2F77B18DCB6}" dt="2026-07-01T10:30:59.003" v="73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06" v="74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07" v="75" actId="276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01" v="72" actId="27636"/>
          <ac:spMkLst>
            <pc:docMk/>
            <pc:sldMk cId="0" sldId="264"/>
            <ac:spMk id="19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041" v="84" actId="27636"/>
        <pc:sldMkLst>
          <pc:docMk/>
          <pc:sldMk cId="0" sldId="265"/>
        </pc:sldMkLst>
        <pc:spChg chg="mod">
          <ac:chgData name="לידור משיח" userId="b4ed2005-0829-4553-ba4c-05307629de5e" providerId="ADAL" clId="{8CA97C3E-2024-4084-9B01-E2F77B18DCB6}" dt="2026-07-01T10:30:59.034" v="81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38" v="83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32" v="80" actId="276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36" v="82" actId="27636"/>
          <ac:spMkLst>
            <pc:docMk/>
            <pc:sldMk cId="0" sldId="265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28" v="78" actId="276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30" v="79" actId="276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22" v="76" actId="2763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24" v="77" actId="276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41" v="84" actId="27636"/>
          <ac:spMkLst>
            <pc:docMk/>
            <pc:sldMk cId="0" sldId="265"/>
            <ac:spMk id="1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060" v="92" actId="27636"/>
        <pc:sldMkLst>
          <pc:docMk/>
          <pc:sldMk cId="0" sldId="266"/>
        </pc:sldMkLst>
        <pc:spChg chg="mod">
          <ac:chgData name="לידור משיח" userId="b4ed2005-0829-4553-ba4c-05307629de5e" providerId="ADAL" clId="{8CA97C3E-2024-4084-9B01-E2F77B18DCB6}" dt="2026-07-01T10:30:59.057" v="91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60" v="92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56" v="90" actId="276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46" v="85" actId="276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52" v="88" actId="276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54" v="89" actId="2763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49" v="86" actId="276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51" v="87" actId="27636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076" v="96" actId="27636"/>
        <pc:sldMkLst>
          <pc:docMk/>
          <pc:sldMk cId="0" sldId="267"/>
        </pc:sldMkLst>
        <pc:spChg chg="mod">
          <ac:chgData name="לידור משיח" userId="b4ed2005-0829-4553-ba4c-05307629de5e" providerId="ADAL" clId="{8CA97C3E-2024-4084-9B01-E2F77B18DCB6}" dt="2026-07-01T10:30:59.069" v="94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73" v="95" actId="276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76" v="96" actId="276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67" v="93" actId="27636"/>
          <ac:spMkLst>
            <pc:docMk/>
            <pc:sldMk cId="0" sldId="267"/>
            <ac:spMk id="1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095" v="103" actId="27636"/>
        <pc:sldMkLst>
          <pc:docMk/>
          <pc:sldMk cId="0" sldId="268"/>
        </pc:sldMkLst>
        <pc:spChg chg="mod">
          <ac:chgData name="לידור משיח" userId="b4ed2005-0829-4553-ba4c-05307629de5e" providerId="ADAL" clId="{8CA97C3E-2024-4084-9B01-E2F77B18DCB6}" dt="2026-07-01T10:30:59.095" v="103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93" v="102" actId="276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91" v="101" actId="276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89" v="100" actId="276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82" v="97" actId="276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83" v="98" actId="276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086" v="99" actId="27636"/>
          <ac:spMkLst>
            <pc:docMk/>
            <pc:sldMk cId="0" sldId="268"/>
            <ac:spMk id="1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03" v="105" actId="27636"/>
        <pc:sldMkLst>
          <pc:docMk/>
          <pc:sldMk cId="0" sldId="269"/>
        </pc:sldMkLst>
        <pc:spChg chg="mod">
          <ac:chgData name="לידור משיח" userId="b4ed2005-0829-4553-ba4c-05307629de5e" providerId="ADAL" clId="{8CA97C3E-2024-4084-9B01-E2F77B18DCB6}" dt="2026-07-01T10:30:59.103" v="105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01" v="104" actId="27636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17" v="110" actId="27636"/>
        <pc:sldMkLst>
          <pc:docMk/>
          <pc:sldMk cId="0" sldId="270"/>
        </pc:sldMkLst>
        <pc:spChg chg="mod">
          <ac:chgData name="לידור משיח" userId="b4ed2005-0829-4553-ba4c-05307629de5e" providerId="ADAL" clId="{8CA97C3E-2024-4084-9B01-E2F77B18DCB6}" dt="2026-07-01T10:30:59.107" v="106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15" v="109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13" v="108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17" v="110" actId="2763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10" v="107" actId="27636"/>
          <ac:spMkLst>
            <pc:docMk/>
            <pc:sldMk cId="0" sldId="270"/>
            <ac:spMk id="14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31" v="114" actId="27636"/>
        <pc:sldMkLst>
          <pc:docMk/>
          <pc:sldMk cId="0" sldId="271"/>
        </pc:sldMkLst>
        <pc:spChg chg="mod">
          <ac:chgData name="לידור משיח" userId="b4ed2005-0829-4553-ba4c-05307629de5e" providerId="ADAL" clId="{8CA97C3E-2024-4084-9B01-E2F77B18DCB6}" dt="2026-07-01T10:30:59.131" v="114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28" v="113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26" v="112" actId="27636"/>
          <ac:spMkLst>
            <pc:docMk/>
            <pc:sldMk cId="0" sldId="271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22" v="111" actId="27636"/>
          <ac:spMkLst>
            <pc:docMk/>
            <pc:sldMk cId="0" sldId="271"/>
            <ac:spMk id="11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42" v="117" actId="27636"/>
        <pc:sldMkLst>
          <pc:docMk/>
          <pc:sldMk cId="0" sldId="272"/>
        </pc:sldMkLst>
        <pc:spChg chg="mod">
          <ac:chgData name="לידור משיח" userId="b4ed2005-0829-4553-ba4c-05307629de5e" providerId="ADAL" clId="{8CA97C3E-2024-4084-9B01-E2F77B18DCB6}" dt="2026-07-01T10:30:59.136" v="115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42" v="117" actId="276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39" v="116" actId="27636"/>
          <ac:spMkLst>
            <pc:docMk/>
            <pc:sldMk cId="0" sldId="272"/>
            <ac:spMk id="7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67" v="126" actId="27636"/>
        <pc:sldMkLst>
          <pc:docMk/>
          <pc:sldMk cId="0" sldId="273"/>
        </pc:sldMkLst>
        <pc:spChg chg="mod">
          <ac:chgData name="לידור משיח" userId="b4ed2005-0829-4553-ba4c-05307629de5e" providerId="ADAL" clId="{8CA97C3E-2024-4084-9B01-E2F77B18DCB6}" dt="2026-07-01T10:30:59.150" v="118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67" v="126" actId="27636"/>
          <ac:spMkLst>
            <pc:docMk/>
            <pc:sldMk cId="0" sldId="273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57" v="122" actId="27636"/>
          <ac:spMkLst>
            <pc:docMk/>
            <pc:sldMk cId="0" sldId="273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54" v="120" actId="2763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52" v="119" actId="2763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65" v="125" actId="2763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62" v="124" actId="2763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60" v="123" actId="2763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56" v="121" actId="27636"/>
          <ac:spMkLst>
            <pc:docMk/>
            <pc:sldMk cId="0" sldId="273"/>
            <ac:spMk id="19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75" v="128" actId="27636"/>
        <pc:sldMkLst>
          <pc:docMk/>
          <pc:sldMk cId="0" sldId="274"/>
        </pc:sldMkLst>
        <pc:spChg chg="mod">
          <ac:chgData name="לידור משיח" userId="b4ed2005-0829-4553-ba4c-05307629de5e" providerId="ADAL" clId="{8CA97C3E-2024-4084-9B01-E2F77B18DCB6}" dt="2026-07-01T10:30:59.172" v="127" actId="27636"/>
          <ac:spMkLst>
            <pc:docMk/>
            <pc:sldMk cId="0" sldId="274"/>
            <ac:spMk id="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75" v="128" actId="27636"/>
          <ac:spMkLst>
            <pc:docMk/>
            <pc:sldMk cId="0" sldId="274"/>
            <ac:spMk id="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192" v="133" actId="27636"/>
        <pc:sldMkLst>
          <pc:docMk/>
          <pc:sldMk cId="0" sldId="275"/>
        </pc:sldMkLst>
        <pc:spChg chg="mod">
          <ac:chgData name="לידור משיח" userId="b4ed2005-0829-4553-ba4c-05307629de5e" providerId="ADAL" clId="{8CA97C3E-2024-4084-9B01-E2F77B18DCB6}" dt="2026-07-01T10:30:59.189" v="132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87" v="131" actId="276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85" v="130" actId="2763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82" v="129" actId="2763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92" v="133" actId="27636"/>
          <ac:spMkLst>
            <pc:docMk/>
            <pc:sldMk cId="0" sldId="275"/>
            <ac:spMk id="2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208" v="138" actId="27636"/>
        <pc:sldMkLst>
          <pc:docMk/>
          <pc:sldMk cId="0" sldId="276"/>
        </pc:sldMkLst>
        <pc:spChg chg="mod">
          <ac:chgData name="לידור משיח" userId="b4ed2005-0829-4553-ba4c-05307629de5e" providerId="ADAL" clId="{8CA97C3E-2024-4084-9B01-E2F77B18DCB6}" dt="2026-07-01T10:30:59.208" v="138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06" v="137" actId="2763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00" v="135" actId="2763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198" v="134" actId="2763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03" v="136" actId="27636"/>
          <ac:spMkLst>
            <pc:docMk/>
            <pc:sldMk cId="0" sldId="276"/>
            <ac:spMk id="17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225" v="143" actId="27636"/>
        <pc:sldMkLst>
          <pc:docMk/>
          <pc:sldMk cId="0" sldId="277"/>
        </pc:sldMkLst>
        <pc:spChg chg="mod">
          <ac:chgData name="לידור משיח" userId="b4ed2005-0829-4553-ba4c-05307629de5e" providerId="ADAL" clId="{8CA97C3E-2024-4084-9B01-E2F77B18DCB6}" dt="2026-07-01T10:30:59.225" v="143" actId="27636"/>
          <ac:spMkLst>
            <pc:docMk/>
            <pc:sldMk cId="0" sldId="277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15" v="139" actId="2763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20" v="141" actId="2763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22" v="142" actId="2763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18" v="140" actId="27636"/>
          <ac:spMkLst>
            <pc:docMk/>
            <pc:sldMk cId="0" sldId="277"/>
            <ac:spMk id="20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252" v="154" actId="27636"/>
        <pc:sldMkLst>
          <pc:docMk/>
          <pc:sldMk cId="0" sldId="278"/>
        </pc:sldMkLst>
        <pc:spChg chg="mod">
          <ac:chgData name="לידור משיח" userId="b4ed2005-0829-4553-ba4c-05307629de5e" providerId="ADAL" clId="{8CA97C3E-2024-4084-9B01-E2F77B18DCB6}" dt="2026-07-01T10:30:59.243" v="150" actId="27636"/>
          <ac:spMkLst>
            <pc:docMk/>
            <pc:sldMk cId="0" sldId="278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52" v="154" actId="27636"/>
          <ac:spMkLst>
            <pc:docMk/>
            <pc:sldMk cId="0" sldId="278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41" v="149" actId="27636"/>
          <ac:spMkLst>
            <pc:docMk/>
            <pc:sldMk cId="0" sldId="278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49" v="153" actId="27636"/>
          <ac:spMkLst>
            <pc:docMk/>
            <pc:sldMk cId="0" sldId="278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48" v="152" actId="2763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45" v="151" actId="2763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37" v="147" actId="2763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39" v="148" actId="2763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33" v="145" actId="2763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31" v="144" actId="27636"/>
          <ac:spMkLst>
            <pc:docMk/>
            <pc:sldMk cId="0" sldId="278"/>
            <ac:spMk id="2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35" v="146" actId="27636"/>
          <ac:spMkLst>
            <pc:docMk/>
            <pc:sldMk cId="0" sldId="278"/>
            <ac:spMk id="21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273" v="161" actId="27636"/>
        <pc:sldMkLst>
          <pc:docMk/>
          <pc:sldMk cId="0" sldId="279"/>
        </pc:sldMkLst>
        <pc:spChg chg="mod">
          <ac:chgData name="לידור משיח" userId="b4ed2005-0829-4553-ba4c-05307629de5e" providerId="ADAL" clId="{8CA97C3E-2024-4084-9B01-E2F77B18DCB6}" dt="2026-07-01T10:30:59.271" v="160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66" v="158" actId="27636"/>
          <ac:spMkLst>
            <pc:docMk/>
            <pc:sldMk cId="0" sldId="279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59" v="155" actId="27636"/>
          <ac:spMkLst>
            <pc:docMk/>
            <pc:sldMk cId="0" sldId="279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69" v="159" actId="27636"/>
          <ac:spMkLst>
            <pc:docMk/>
            <pc:sldMk cId="0" sldId="279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64" v="157" actId="27636"/>
          <ac:spMkLst>
            <pc:docMk/>
            <pc:sldMk cId="0" sldId="279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73" v="161" actId="2763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62" v="156" actId="27636"/>
          <ac:spMkLst>
            <pc:docMk/>
            <pc:sldMk cId="0" sldId="279"/>
            <ac:spMk id="24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291" v="163" actId="27636"/>
        <pc:sldMkLst>
          <pc:docMk/>
          <pc:sldMk cId="0" sldId="280"/>
        </pc:sldMkLst>
        <pc:spChg chg="mod">
          <ac:chgData name="לידור משיח" userId="b4ed2005-0829-4553-ba4c-05307629de5e" providerId="ADAL" clId="{8CA97C3E-2024-4084-9B01-E2F77B18DCB6}" dt="2026-07-01T10:30:59.291" v="163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87" v="162" actId="27636"/>
          <ac:spMkLst>
            <pc:docMk/>
            <pc:sldMk cId="0" sldId="280"/>
            <ac:spMk id="24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306" v="168" actId="27636"/>
        <pc:sldMkLst>
          <pc:docMk/>
          <pc:sldMk cId="0" sldId="281"/>
        </pc:sldMkLst>
        <pc:spChg chg="mod">
          <ac:chgData name="לידור משיח" userId="b4ed2005-0829-4553-ba4c-05307629de5e" providerId="ADAL" clId="{8CA97C3E-2024-4084-9B01-E2F77B18DCB6}" dt="2026-07-01T10:30:59.303" v="167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01" v="166" actId="27636"/>
          <ac:spMkLst>
            <pc:docMk/>
            <pc:sldMk cId="0" sldId="281"/>
            <ac:spMk id="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06" v="168" actId="27636"/>
          <ac:spMkLst>
            <pc:docMk/>
            <pc:sldMk cId="0" sldId="281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297" v="164" actId="2763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00" v="165" actId="27636"/>
          <ac:spMkLst>
            <pc:docMk/>
            <pc:sldMk cId="0" sldId="281"/>
            <ac:spMk id="17" creationId="{00000000-0000-0000-0000-000000000000}"/>
          </ac:spMkLst>
        </pc:spChg>
      </pc:sldChg>
      <pc:sldChg chg="modSp mod modShow">
        <pc:chgData name="לידור משיח" userId="b4ed2005-0829-4553-ba4c-05307629de5e" providerId="ADAL" clId="{8CA97C3E-2024-4084-9B01-E2F77B18DCB6}" dt="2026-07-01T10:30:59.323" v="173" actId="27636"/>
        <pc:sldMkLst>
          <pc:docMk/>
          <pc:sldMk cId="0" sldId="282"/>
        </pc:sldMkLst>
        <pc:spChg chg="mod">
          <ac:chgData name="לידור משיח" userId="b4ed2005-0829-4553-ba4c-05307629de5e" providerId="ADAL" clId="{8CA97C3E-2024-4084-9B01-E2F77B18DCB6}" dt="2026-07-01T10:30:59.315" v="170" actId="27636"/>
          <ac:spMkLst>
            <pc:docMk/>
            <pc:sldMk cId="0" sldId="282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23" v="173" actId="27636"/>
          <ac:spMkLst>
            <pc:docMk/>
            <pc:sldMk cId="0" sldId="282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13" v="169" actId="2763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18" v="171" actId="27636"/>
          <ac:spMkLst>
            <pc:docMk/>
            <pc:sldMk cId="0" sldId="282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21" v="172" actId="27636"/>
          <ac:spMkLst>
            <pc:docMk/>
            <pc:sldMk cId="0" sldId="282"/>
            <ac:spMk id="1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339" v="176" actId="27636"/>
        <pc:sldMkLst>
          <pc:docMk/>
          <pc:sldMk cId="0" sldId="283"/>
        </pc:sldMkLst>
        <pc:spChg chg="mod">
          <ac:chgData name="לידור משיח" userId="b4ed2005-0829-4553-ba4c-05307629de5e" providerId="ADAL" clId="{8CA97C3E-2024-4084-9B01-E2F77B18DCB6}" dt="2026-07-01T10:30:59.335" v="175" actId="27636"/>
          <ac:spMkLst>
            <pc:docMk/>
            <pc:sldMk cId="0" sldId="283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32" v="174" actId="27636"/>
          <ac:spMkLst>
            <pc:docMk/>
            <pc:sldMk cId="0" sldId="283"/>
            <ac:spMk id="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39" v="176" actId="27636"/>
          <ac:spMkLst>
            <pc:docMk/>
            <pc:sldMk cId="0" sldId="283"/>
            <ac:spMk id="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349" v="178" actId="27636"/>
        <pc:sldMkLst>
          <pc:docMk/>
          <pc:sldMk cId="0" sldId="284"/>
        </pc:sldMkLst>
        <pc:spChg chg="mod">
          <ac:chgData name="לידור משיח" userId="b4ed2005-0829-4553-ba4c-05307629de5e" providerId="ADAL" clId="{8CA97C3E-2024-4084-9B01-E2F77B18DCB6}" dt="2026-07-01T10:30:59.349" v="178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46" v="177" actId="27636"/>
          <ac:spMkLst>
            <pc:docMk/>
            <pc:sldMk cId="0" sldId="284"/>
            <ac:spMk id="10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363" v="182" actId="27636"/>
        <pc:sldMkLst>
          <pc:docMk/>
          <pc:sldMk cId="0" sldId="285"/>
        </pc:sldMkLst>
        <pc:spChg chg="mod">
          <ac:chgData name="לידור משיח" userId="b4ed2005-0829-4553-ba4c-05307629de5e" providerId="ADAL" clId="{8CA97C3E-2024-4084-9B01-E2F77B18DCB6}" dt="2026-07-01T10:30:59.360" v="181" actId="27636"/>
          <ac:spMkLst>
            <pc:docMk/>
            <pc:sldMk cId="0" sldId="285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57" v="180" actId="2763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54" v="179" actId="27636"/>
          <ac:spMkLst>
            <pc:docMk/>
            <pc:sldMk cId="0" sldId="285"/>
            <ac:spMk id="2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63" v="182" actId="27636"/>
          <ac:spMkLst>
            <pc:docMk/>
            <pc:sldMk cId="0" sldId="285"/>
            <ac:spMk id="2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9.386" v="191" actId="27636"/>
        <pc:sldMkLst>
          <pc:docMk/>
          <pc:sldMk cId="0" sldId="286"/>
        </pc:sldMkLst>
        <pc:spChg chg="mod">
          <ac:chgData name="לידור משיח" userId="b4ed2005-0829-4553-ba4c-05307629de5e" providerId="ADAL" clId="{8CA97C3E-2024-4084-9B01-E2F77B18DCB6}" dt="2026-07-01T10:30:59.369" v="183" actId="27636"/>
          <ac:spMkLst>
            <pc:docMk/>
            <pc:sldMk cId="0" sldId="286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84" v="190" actId="27636"/>
          <ac:spMkLst>
            <pc:docMk/>
            <pc:sldMk cId="0" sldId="286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71" v="184" actId="27636"/>
          <ac:spMkLst>
            <pc:docMk/>
            <pc:sldMk cId="0" sldId="286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73" v="185" actId="27636"/>
          <ac:spMkLst>
            <pc:docMk/>
            <pc:sldMk cId="0" sldId="286"/>
            <ac:spMk id="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78" v="187" actId="27636"/>
          <ac:spMkLst>
            <pc:docMk/>
            <pc:sldMk cId="0" sldId="286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82" v="189" actId="27636"/>
          <ac:spMkLst>
            <pc:docMk/>
            <pc:sldMk cId="0" sldId="286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76" v="186" actId="27636"/>
          <ac:spMkLst>
            <pc:docMk/>
            <pc:sldMk cId="0" sldId="286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80" v="188" actId="27636"/>
          <ac:spMkLst>
            <pc:docMk/>
            <pc:sldMk cId="0" sldId="286"/>
            <ac:spMk id="1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9.386" v="191" actId="27636"/>
          <ac:spMkLst>
            <pc:docMk/>
            <pc:sldMk cId="0" sldId="286"/>
            <ac:spMk id="15" creationId="{00000000-0000-0000-0000-000000000000}"/>
          </ac:spMkLst>
        </pc:spChg>
      </pc:sldChg>
      <pc:sldChg chg="delSp modSp mod">
        <pc:chgData name="לידור משיח" userId="b4ed2005-0829-4553-ba4c-05307629de5e" providerId="ADAL" clId="{8CA97C3E-2024-4084-9B01-E2F77B18DCB6}" dt="2026-07-01T10:33:28" v="389" actId="1076"/>
        <pc:sldMkLst>
          <pc:docMk/>
          <pc:sldMk cId="0" sldId="287"/>
        </pc:sldMkLst>
        <pc:spChg chg="mod">
          <ac:chgData name="לידור משיח" userId="b4ed2005-0829-4553-ba4c-05307629de5e" providerId="ADAL" clId="{8CA97C3E-2024-4084-9B01-E2F77B18DCB6}" dt="2026-07-01T10:30:58.756" v="10" actId="27636"/>
          <ac:spMkLst>
            <pc:docMk/>
            <pc:sldMk cId="0" sldId="287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8" v="389" actId="107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1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22.948" v="388" actId="1038"/>
          <ac:spMkLst>
            <pc:docMk/>
            <pc:sldMk cId="0" sldId="287"/>
            <ac:spMk id="12" creationId="{00000000-0000-0000-0000-000000000000}"/>
          </ac:spMkLst>
        </pc:spChg>
        <pc:spChg chg="del">
          <ac:chgData name="לידור משיח" userId="b4ed2005-0829-4553-ba4c-05307629de5e" providerId="ADAL" clId="{8CA97C3E-2024-4084-9B01-E2F77B18DCB6}" dt="2026-07-01T10:31:41.266" v="231" actId="478"/>
          <ac:spMkLst>
            <pc:docMk/>
            <pc:sldMk cId="0" sldId="287"/>
            <ac:spMk id="13" creationId="{00000000-0000-0000-0000-000000000000}"/>
          </ac:spMkLst>
        </pc:spChg>
        <pc:spChg chg="del">
          <ac:chgData name="לידור משיח" userId="b4ed2005-0829-4553-ba4c-05307629de5e" providerId="ADAL" clId="{8CA97C3E-2024-4084-9B01-E2F77B18DCB6}" dt="2026-07-01T10:31:51.681" v="238" actId="478"/>
          <ac:spMkLst>
            <pc:docMk/>
            <pc:sldMk cId="0" sldId="287"/>
            <ac:spMk id="14" creationId="{00000000-0000-0000-0000-000000000000}"/>
          </ac:spMkLst>
        </pc:spChg>
        <pc:spChg chg="del">
          <ac:chgData name="לידור משיח" userId="b4ed2005-0829-4553-ba4c-05307629de5e" providerId="ADAL" clId="{8CA97C3E-2024-4084-9B01-E2F77B18DCB6}" dt="2026-07-01T10:31:50.112" v="237" actId="478"/>
          <ac:spMkLst>
            <pc:docMk/>
            <pc:sldMk cId="0" sldId="287"/>
            <ac:spMk id="15" creationId="{00000000-0000-0000-0000-000000000000}"/>
          </ac:spMkLst>
        </pc:spChg>
        <pc:spChg chg="del">
          <ac:chgData name="לידור משיח" userId="b4ed2005-0829-4553-ba4c-05307629de5e" providerId="ADAL" clId="{8CA97C3E-2024-4084-9B01-E2F77B18DCB6}" dt="2026-07-01T10:31:52.686" v="239" actId="478"/>
          <ac:spMkLst>
            <pc:docMk/>
            <pc:sldMk cId="0" sldId="287"/>
            <ac:spMk id="16" creationId="{00000000-0000-0000-0000-000000000000}"/>
          </ac:spMkLst>
        </pc:spChg>
        <pc:spChg chg="del">
          <ac:chgData name="לידור משיח" userId="b4ed2005-0829-4553-ba4c-05307629de5e" providerId="ADAL" clId="{8CA97C3E-2024-4084-9B01-E2F77B18DCB6}" dt="2026-07-01T10:33:13.644" v="344" actId="478"/>
          <ac:spMkLst>
            <pc:docMk/>
            <pc:sldMk cId="0" sldId="287"/>
            <ac:spMk id="17" creationId="{00000000-0000-0000-0000-000000000000}"/>
          </ac:spMkLst>
        </pc:spChg>
        <pc:spChg chg="del mod">
          <ac:chgData name="לידור משיח" userId="b4ed2005-0829-4553-ba4c-05307629de5e" providerId="ADAL" clId="{8CA97C3E-2024-4084-9B01-E2F77B18DCB6}" dt="2026-07-01T10:31:44.850" v="235" actId="478"/>
          <ac:spMkLst>
            <pc:docMk/>
            <pc:sldMk cId="0" sldId="287"/>
            <ac:spMk id="18" creationId="{00000000-0000-0000-0000-000000000000}"/>
          </ac:spMkLst>
        </pc:spChg>
        <pc:spChg chg="del mod">
          <ac:chgData name="לידור משיח" userId="b4ed2005-0829-4553-ba4c-05307629de5e" providerId="ADAL" clId="{8CA97C3E-2024-4084-9B01-E2F77B18DCB6}" dt="2026-07-01T10:31:43.730" v="234" actId="478"/>
          <ac:spMkLst>
            <pc:docMk/>
            <pc:sldMk cId="0" sldId="287"/>
            <ac:spMk id="19" creationId="{00000000-0000-0000-0000-000000000000}"/>
          </ac:spMkLst>
        </pc:spChg>
        <pc:spChg chg="del mod">
          <ac:chgData name="לידור משיח" userId="b4ed2005-0829-4553-ba4c-05307629de5e" providerId="ADAL" clId="{8CA97C3E-2024-4084-9B01-E2F77B18DCB6}" dt="2026-07-01T10:31:48.141" v="236" actId="478"/>
          <ac:spMkLst>
            <pc:docMk/>
            <pc:sldMk cId="0" sldId="287"/>
            <ac:spMk id="2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3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5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7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3:17.660" v="367" actId="1037"/>
          <ac:spMkLst>
            <pc:docMk/>
            <pc:sldMk cId="0" sldId="287"/>
            <ac:spMk id="2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792" v="17" actId="27636"/>
        <pc:sldMkLst>
          <pc:docMk/>
          <pc:sldMk cId="0" sldId="288"/>
        </pc:sldMkLst>
        <pc:spChg chg="mod">
          <ac:chgData name="לידור משיח" userId="b4ed2005-0829-4553-ba4c-05307629de5e" providerId="ADAL" clId="{8CA97C3E-2024-4084-9B01-E2F77B18DCB6}" dt="2026-07-01T10:30:58.792" v="17" actId="276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790" v="16" actId="27636"/>
          <ac:spMkLst>
            <pc:docMk/>
            <pc:sldMk cId="0" sldId="288"/>
            <ac:spMk id="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785" v="14" actId="27636"/>
          <ac:spMkLst>
            <pc:docMk/>
            <pc:sldMk cId="0" sldId="288"/>
            <ac:spMk id="1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787" v="15" actId="27636"/>
          <ac:spMkLst>
            <pc:docMk/>
            <pc:sldMk cId="0" sldId="288"/>
            <ac:spMk id="14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812" v="24" actId="27636"/>
        <pc:sldMkLst>
          <pc:docMk/>
          <pc:sldMk cId="0" sldId="289"/>
        </pc:sldMkLst>
        <pc:spChg chg="mod">
          <ac:chgData name="לידור משיח" userId="b4ed2005-0829-4553-ba4c-05307629de5e" providerId="ADAL" clId="{8CA97C3E-2024-4084-9B01-E2F77B18DCB6}" dt="2026-07-01T10:30:58.807" v="22" actId="27636"/>
          <ac:spMkLst>
            <pc:docMk/>
            <pc:sldMk cId="0" sldId="289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05" v="21" actId="27636"/>
          <ac:spMkLst>
            <pc:docMk/>
            <pc:sldMk cId="0" sldId="289"/>
            <ac:spMk id="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798" v="18" actId="27636"/>
          <ac:spMkLst>
            <pc:docMk/>
            <pc:sldMk cId="0" sldId="289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12" v="24" actId="27636"/>
          <ac:spMkLst>
            <pc:docMk/>
            <pc:sldMk cId="0" sldId="289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10" v="23" actId="2763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03" v="20" actId="2763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01" v="19" actId="27636"/>
          <ac:spMkLst>
            <pc:docMk/>
            <pc:sldMk cId="0" sldId="289"/>
            <ac:spMk id="16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824" v="27" actId="27636"/>
        <pc:sldMkLst>
          <pc:docMk/>
          <pc:sldMk cId="0" sldId="290"/>
        </pc:sldMkLst>
        <pc:spChg chg="mod">
          <ac:chgData name="לידור משיח" userId="b4ed2005-0829-4553-ba4c-05307629de5e" providerId="ADAL" clId="{8CA97C3E-2024-4084-9B01-E2F77B18DCB6}" dt="2026-07-01T10:30:58.820" v="26" actId="27636"/>
          <ac:spMkLst>
            <pc:docMk/>
            <pc:sldMk cId="0" sldId="290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18" v="25" actId="27636"/>
          <ac:spMkLst>
            <pc:docMk/>
            <pc:sldMk cId="0" sldId="290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24" v="27" actId="27636"/>
          <ac:spMkLst>
            <pc:docMk/>
            <pc:sldMk cId="0" sldId="290"/>
            <ac:spMk id="11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843" v="32" actId="27636"/>
        <pc:sldMkLst>
          <pc:docMk/>
          <pc:sldMk cId="0" sldId="291"/>
        </pc:sldMkLst>
        <pc:spChg chg="mod">
          <ac:chgData name="לידור משיח" userId="b4ed2005-0829-4553-ba4c-05307629de5e" providerId="ADAL" clId="{8CA97C3E-2024-4084-9B01-E2F77B18DCB6}" dt="2026-07-01T10:30:58.841" v="31" actId="27636"/>
          <ac:spMkLst>
            <pc:docMk/>
            <pc:sldMk cId="0" sldId="291"/>
            <ac:spMk id="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32" v="28" actId="27636"/>
          <ac:spMkLst>
            <pc:docMk/>
            <pc:sldMk cId="0" sldId="291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43" v="32" actId="27636"/>
          <ac:spMkLst>
            <pc:docMk/>
            <pc:sldMk cId="0" sldId="291"/>
            <ac:spMk id="9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35" v="29" actId="27636"/>
          <ac:spMkLst>
            <pc:docMk/>
            <pc:sldMk cId="0" sldId="291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38" v="30" actId="27636"/>
          <ac:spMkLst>
            <pc:docMk/>
            <pc:sldMk cId="0" sldId="291"/>
            <ac:spMk id="15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868" v="39" actId="27636"/>
        <pc:sldMkLst>
          <pc:docMk/>
          <pc:sldMk cId="0" sldId="292"/>
        </pc:sldMkLst>
        <pc:spChg chg="mod">
          <ac:chgData name="לידור משיח" userId="b4ed2005-0829-4553-ba4c-05307629de5e" providerId="ADAL" clId="{8CA97C3E-2024-4084-9B01-E2F77B18DCB6}" dt="2026-07-01T10:30:58.855" v="35" actId="27636"/>
          <ac:spMkLst>
            <pc:docMk/>
            <pc:sldMk cId="0" sldId="292"/>
            <ac:spMk id="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59" v="36" actId="27636"/>
          <ac:spMkLst>
            <pc:docMk/>
            <pc:sldMk cId="0" sldId="292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50" v="33" actId="2763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68" v="39" actId="27636"/>
          <ac:spMkLst>
            <pc:docMk/>
            <pc:sldMk cId="0" sldId="292"/>
            <ac:spMk id="12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62" v="37" actId="27636"/>
          <ac:spMkLst>
            <pc:docMk/>
            <pc:sldMk cId="0" sldId="292"/>
            <ac:spMk id="14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66" v="38" actId="27636"/>
          <ac:spMkLst>
            <pc:docMk/>
            <pc:sldMk cId="0" sldId="292"/>
            <ac:spMk id="16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53" v="34" actId="27636"/>
          <ac:spMkLst>
            <pc:docMk/>
            <pc:sldMk cId="0" sldId="292"/>
            <ac:spMk id="18" creationId="{00000000-0000-0000-0000-000000000000}"/>
          </ac:spMkLst>
        </pc:spChg>
      </pc:sldChg>
      <pc:sldChg chg="modSp mod">
        <pc:chgData name="לידור משיח" userId="b4ed2005-0829-4553-ba4c-05307629de5e" providerId="ADAL" clId="{8CA97C3E-2024-4084-9B01-E2F77B18DCB6}" dt="2026-07-01T10:30:58.881" v="41" actId="27636"/>
        <pc:sldMkLst>
          <pc:docMk/>
          <pc:sldMk cId="0" sldId="293"/>
        </pc:sldMkLst>
        <pc:spChg chg="mod">
          <ac:chgData name="לידור משיח" userId="b4ed2005-0829-4553-ba4c-05307629de5e" providerId="ADAL" clId="{8CA97C3E-2024-4084-9B01-E2F77B18DCB6}" dt="2026-07-01T10:30:58.881" v="41" actId="27636"/>
          <ac:spMkLst>
            <pc:docMk/>
            <pc:sldMk cId="0" sldId="293"/>
            <ac:spMk id="8" creationId="{00000000-0000-0000-0000-000000000000}"/>
          </ac:spMkLst>
        </pc:spChg>
        <pc:spChg chg="mod">
          <ac:chgData name="לידור משיח" userId="b4ed2005-0829-4553-ba4c-05307629de5e" providerId="ADAL" clId="{8CA97C3E-2024-4084-9B01-E2F77B18DCB6}" dt="2026-07-01T10:30:58.877" v="40" actId="27636"/>
          <ac:spMkLst>
            <pc:docMk/>
            <pc:sldMk cId="0" sldId="293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741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הצגה עצמית קצרה ושם הקורס
• הציגו את המאמר הראשי שבחרנו, Arakelyan ואחרים 2024
• מסגרו זאת כהצעת מחקר הבנויה על סקירת ספרות מקיפה
• Brief self-introduction and the course
• Present our anchor paper, Arakelyan et al. 2024
• Frame this as a research proposal grounded in a broad 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מפת ההרצאה בחמישה חלקים
• הדגישו שחלק המתודולוגיה הוא הלב ושם נשהה הכי הרבה
• Roadmap of the talk in five parts
• Stress that the methodology is the heart and where we spend the most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הקהל חדש לתחום, התחילו מאפס
• NLI היא משימת ליבה של NLU, נותנים שני משפטים והמודל קובע את הקשר הלוגי
• ביצוע אמין של המשימה נחשב לסימן להבנה
• The audience is new, start from zero
• NLI is a core NLU task, give two sentences and the model returns the logical relation
• Doing this reliably is taken as a sign of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Premise היא העובדה הנתונה, ההיפותזה נבחנת מולה
• המודל מחזיר את הקשר הלוגי ביניהן
• הדגימו עם דני והקינוח
• The premise is the given fact, the hypothesis is tested against it
• The model returns the logical relation between them
• Walk through the Danny and dessert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שלוש האפשרויות, נובע, סותר, או ניטרלי
• הדגישו שניטרלי הוא מצב לוגי אמיתי ולא חוסר ודאות של המודל
• The three options, follows, conflicts, or independent
• Stress that Neutral is a real logical state, not the model being unsure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פרפרזה היא ניסוח מחדש ששומר על המשמעות
• המאמר מוודא זאת עם Symmetric Entailment, כל משפט נובע מהשני
• מודל איתן אמור להחזיר אותו קשר גם למקור וגם לפרפרזה
• A paraphrase is a rewording that preserves meaning
• The paper verifies it with symmetric entailment, each sentence entails the other
• A robust model should return the same relation for the original and the paraphrase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שקף מעבר אל הבעיה
• ציונים גבוהים אך תחזיות שבריריות, כפי שכבר ידוע בספרות
• Section divider into the problem
• High benchmark scores yet fragile predictions, as the literature already knows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זהו המאמר שבחרנו, Arakelyan ואחרים 2024
• הטענה, גם מודלים חזקים משנים תחזית בעקבות ניסוח מחדש ששומר על המשמעות
• תרומתו היא מסגרת מדידה, לא מודל חדש
• This is our chosen paper, Arakelyan et al. 2024
• The claim, even strong models flip under a meaning-preserving rewording
• Its contribution is a measurement framework, not a new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דוגמה ממחישה, המודל ענה נכון על sleeping ו resting
• מנסחים מחדש ל napping, אותה משמעות בדיוק, והמודל הופך ל Contradiction
• אותה משמעות, תחזית הפוכה, זו אי עקביות סמנטית
• Worked example, the model is correct on sleeping and resting
• Reword to napping, identical meaning, and it flips to Contradiction
• Same meaning, opposite prediction, this is semantic inconsistency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כך המאמר מודד, שומרים רק דוגמאות שהמודל ענה נכון
• מייצרים כחמש פרפרזות לכל היפותזה ובודקים כמה פעמים התחזית משתנה
• שני מדדים, Relaxed לכל שינוי ו Strict להיפוך מלא
• How the paper measures it, keep only correctly answered examples
• Generate about five paraphrases per hypothesis and count prediction changes
• Two metrics, Relaxed for any change and Strict for a full flip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ירידה ממוצעת של כ 13 אחוז בתוך הדומיין וכ 24 אחוז מחוץ לדומיין במדד Relaxed
• מודלים קטנים ומכווצים שבירים יותר, גם מודלים גדולים נכשלים
• התופעה חמורה יותר במצב Zero-Shot
• Average Relaxed drop of about 13 percent in-domain and about 24 percent out-of-domain
• Smaller and distilled models are more fragile, even large models fail
• The effect is worse in the zero-shot setting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זו אינה תופעה מבודדת, מאמרים רבים מאותה תקופה הראו את אותו הדבר
• ציון גבוה אך הסתמכות על קיצורי דרך במקום הבנה אמיתית
• הזכירו בקצרה את ארבעת המאמרים
• Not an isolated finding, many papers from the same period showed the same thing
• High scores but reliance on shortcuts instead of true understanding
• Name the four papers briefly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גם לאחר המאמר הראשי התחום המשיך באותו קו, מדידה והצעת מדדים חדשים
• שלושת המאמרים האלו ציטטו את המאמר שלנו
• המשותף לכולם, הם מדדו את הפלט הסופי בלבד
• After our anchor paper the field kept measuring and proposing new metrics
• These three works cite our paper
• What they share, all of them measure only the final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שקף מעבר, מציגים את הפער ואת הרעיון שלנו
• להתאים את Deep k-NN כדי לשאול היכן בתוך המודל המשמעות נשברת
• Section divider, we present the gap and our idea
• Adapt Deep k-NN to ask where inside the model meaning breaks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מה ידוע, התופעה אמיתית ומתועדת על פני עשרות מודלים ודאטה סטים
• מה חסר, העבודות מאבחנות אך לא בונות מנגנון לשיפור עקביות
• ובעיקר, איש לא פתח את הקופסה השחורה כדי לאתר היכן נוצרת הבעיה
• What is known, the phenomenon is real and documented across many models and datasets
• What is missing, work diagnoses but rarely builds a mechanism to improve consistency
• Above all, no one opened the black box to locate where the problem originates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מודל רגיל חושף רק את ההחלטה הסופית ואנו סומכים עליה בעיוורון
• Deep k-NN בודק בכל שכבה לאילו דוגמאות אימון הקלט הכי דומה ומה היה התיוג שלהן
• אם רוב השכנים תומכים בתשובה לאורך השכבות, התחזית אמינה
• A standard model exposes only the final decision and we trust it blindly
• Deep k-NN checks at each layer which training examples the input resembles and their labels
• If most neighbors support the answer across layers, the prediction is trustworthy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בכל שכבה אוספים את K השכנים מסט האימון
• ה credibility הוא שיעור השכנים, מכל השכבות, שתומכים בתשובה הסופית
• לדוגמה, שתים עשרה שכבות כפול עשרה שכנים שווה מאה ועשרים קולות
• At each layer we gather the K training neighbors
• Credibility is the share of neighbors, across all layers, that support the final answer
• For example, twelve layers times ten neighbors equals one hundred and twenty votes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השאלה המרכזית, האם אי העקביות מתבטאת כבר בייצוגים הפנימיים ולא רק בפלט
• ממנה נגזרות שלוש שאלות משנה ברורות
• ההיפותזה, זוגות עקביים יראו credibility גבוה וזוגות לא עקביים יראו ירידה
• The main question, does inconsistency appear already in the internal representations
• From it follow three clear sub-questions
• The hypothesis, consistent pairs show high credibility and inconsistent pairs show a drop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שקף מעבר, זהו לב ההרצאה ונשהה כאן הכי הרבה
• שלוש מדידות, שני שלבים, וכל בחירה מעוגנת בספרות
• Section divider, this is the heart of the talk and where we spend the most time
• Three measurements, two phases, every choice grounded in the literature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שלושת הדאטה סטים הנפוצים ביותר בכל הסקירות, מייצגים קושי עולה
• אנו שומרים עליהם בנפרד, הפרדה נותנת ייחוס נקי לכל שיפור
• The three datasets most common across the reviews, spanning increasing difficulty
• We keep them separate, separation gives clean attribution for any 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ארבעת המודלים החוזרים ביותר בסקירות
• כל מודל מאומן על כל דאטה סט, ארבע כפול שלוש שווה שנים עשר צמדים
• The four models that recur most across the reviews
• Each model is trained on each dataset, four times three equals twelve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בחירת K נעשית מוקדם, כשלב הכנה, לפני הרצת הניסויים
• בודקים כמה ערכים ובוחרים את זה שממקסם את הקשר בין credibility נמוך לאי עקביות בפועל
• מודדים על ה validation, ובוחרים K נפרד לכל צמד מודל ודאטה סט
• Choosing k is done early, as a setup step, before running the experiments
• Try several values and pick the one maximizing the link between low credibility and real inconsistency
• Measured on validation, with a separate k per model and dataset 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התהליך מקצה לקצה, אימון כל מודל על כל דאטה סט
• שומרים רק זוגות שסווגו נכון, ושומרים את הייצוג של כל היפותזה בכל שכבה
• מייצרים פרפרזות, מריצים Premise ו Paraphrase, ומחשבים מדדים
• The end to end process, train each model on each dataset
• Keep only correctly classified pairs, store each hypothesis representation at every layer
• Generate paraphrases, run premise and paraphrase, and compute the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שתי בקרות שמבטיחות soundness גבוה
• רק דוגמאות שהמודל צדק בהן נכנסות, וכל פרפרזה שומרת על הקשר הלוגי
• לכן כל שינוי תשובה אינו מוצדק, התוצאה היא או עקבי או לא עקבי
• Two controls that ensure high soundness
• Only correct examples enter, and every paraphrase preserves the logical relation
• So any change of answer is unjustified, the outcome is either consistent or inconsistent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כל המדדים מקורם בספרות, לא המצאנו דבר
• מדדי עקביות בפלט מצד אחד, ומדדי ייצוג פנימי מצד שני
• הייצוג הפנימי הוא מה שמאפשר לנו לפתוח את הקופסה השחורה
• Every metric comes from the literature, we invented nothing
• Output consistency metrics on one side, internal representation metrics on the other
• The internal representation is what lets us open the black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המדד הפשוט ביותר, לכל זוג היפותזה ופרפרזה, האם התשובה זהה
• Relaxed סופר כל שינוי בין שלוש הקטגוריות
• Strict סופר רק היפוך מלא בין Entailment ל Contradiction
• The simplest metric, for each hypothesis and paraphrase pair, is the answer the same
• Relaxed counts any change among the three categories
• Strict counts only a full reversal between Entailment and Contradiction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מתוך מדידת העקביות נגזרים ארבעה מדדי פלט, כולם מהספרות
• שניים מהמאמר הראשי, ושניים מהמאמרים שבאו אחריו
• המטרה, להראות שאלו המדדים המקובלים שראינו בסקירות
• From the consistency measurement we derive four output rates, all from the literature
• Two from the anchor paper, and two from the works that came after it
• The goal, to show these are the accepted metrics we saw in the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פותחים את הקופסה, בכל שכבה מודדים את המרחק בין ייצוג ההיפותזה לייצוג הפרפרזה
• בשכבות הנמוכות הם קרובים, ומחפשים את השכבה שבה הם מתרחקים
• זוגות עקביים נשארים קרובים לכל האורך, זוגות לא עקביים מתפצלים
• We open the box, at each layer we measure the distance between the hypothesis and paraphrase representations
• In early layers they are close, we look for the layer where they drift apart
• Consistent pairs stay close throughout, inconsistent pairs split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הגרף, ציר אופקי הוא מספר השכבה משכבה אחת עד שתים עשרה
• ציר אנכי הוא המרחק הממוצע בין ההיפותזה לפרפרזה
• הסף מחושב כממוצע העקביים ועוד סטיית תקן, ולכן הוא ממש מעל פס העקביים
• The graph, the horizontal axis is the layer number from one to twelve
• The vertical axis is the average distance between hypothesis and paraphrase
• The threshold is the consistent mean plus one standard deviation, so it sits just above the consistent band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היכן מתרחש הפיצול קובע את סוג הבעיה
• שכבות נמוכות, בעיית ייצוג, אמצעיות, בעיית reasoning, עליונות, בעיית classifier
• Where the split happens determines the type of problem
• Lower layers, representation, middle, reasoning, upper, classifier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החישוב הפורמלי, מאחסנים את ייצוגי האימון בכל שכבה כמאגר מתויג
• לכל פרפרזה, בכל שכבה, מוצאים K שכנים
• Credibility שווה תומכים חלקי סך השכנים, שהוא K כפול מספר השכבות
• The formal computation, store training representations per layer as a labeled bank
• For each paraphrase, at each layer, find K neighbors
• Credibility equals supporters over total neighbors, which is K times the number of 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משווים את ה credibility של ההיפותזה לזה של הפרפרזה, וכיוון השינוי קובע את הבעיה
• ירידה, בעיית הכללה, אזור דליל באימון
• עלייה לכיוון לייבל שגוי, בעיית ייצוג, נשאר אותו דבר אך התשובה השתנתה, בעיית classifier
• Compare the hypothesis credibility to the paraphrase, the direction of change names the problem
• A drop, generalization, a sparse training region
• A rise toward a wrong label, representation, unchanged but the answer flipped, classifier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שלב א, מחלקים את הקלטים לשתי קבוצות נפרדות לפי ה credibility שלהם
• בכל קבוצה בנפרד בודקים איזה אחוז הפך ללא עקבי, האחוזים לא אמורים להסתכם למאה
• אם קבוצת ה credibility הנמוך הרבה יותר לא עקבית, הסיגנל אמיתי
• Phase A, split the inputs into two separate groups by their credibility
• Within each group we check what share became inconsistent, the two do not add up to one hundred
• If the low-credibility group is far more inconsistent, the signal is real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שלב ב, אם הבעיה היא הכללה, מוסיפים פרפרזות ממוקדות לדוגמאות החלשות
• מבצעים Fine-Tuning, לא אימון מאפס, ובונים מחדש את מאגר הייצוגים
• משווים לשני baselines, המודל המקורי ומודל עם אותה כמות פרפרזות אקראיות
• Phase B, if the problem is generalization, add targeted paraphrases for the weak examples
• Fine-tune, not retrain from scratch, and rebuild the representation bank
• Compare to two baselines, the original model and one with the same number of random paraphrases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חיזוק ה soundness, שני המדדים הפנימיים מודדים דברים שונים
• Layer Distance מודד היכן הייצוגים מתפצלים, Credibility מודד לאן הייצוג נוחת ביחס לאימון
• הם יכולים לא להסכים, וזה ממצא, אולי הבעיה רב ממדית
• Reinforcing soundness, the two internal metrics measure different things
• Layer Distance measures where representations split, Credibility measures where a representation lands relative to training
• They can disagree, and that is a finding, the problem may be multi-dimensional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ארבעה משפטים, הבעיה הידועה, הפער, שאלות המחקר, וצורת התקיפה
• היישום הראשון של Deep k-NN ל NLI, אבחון עם Layer Distance ו Credibility, ואז תיקון ממוקד מבוקר
• Four parts, the known problem, the gap, the research questions, and our angle
• The first adaptation of Deep k-NN to NLI, diagnose with Layer Distance and Credibility, then a targeted controlled 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ביבליוגרפיה מלאה, חלק ראשון, אין צורך להקריא
• מוצג לתיעוד ולשאלות
• Full bibliography, part one, no need to read aloud
• Shown for the record and for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ביבליוגרפיה מלאה, חלק שני, כולל את מאמרי המתודולוגיה
• Deep k-NN ו Inter-Layer Geometry
• Full bibliography, part two, including the methodology papers
• Deep k-NN and Inter-Layer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76300"/>
            <a:ext cx="33560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62890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1"/>
          <p:cNvSpPr/>
          <p:nvPr/>
        </p:nvSpPr>
        <p:spPr>
          <a:xfrm>
            <a:off x="1143000" y="2990850"/>
            <a:ext cx="17602200" cy="1043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600" b="1" kern="0" spc="-132" dirty="0">
                <a:solidFill>
                  <a:srgbClr val="22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the Black Box: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1143000" y="4033986"/>
            <a:ext cx="13735050" cy="1062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150" i="1" dirty="0">
                <a:solidFill>
                  <a:srgbClr val="5C5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Localizing semantic inconsistency in NLI models with Deep k -Nearest Neighbors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1143000" y="7248525"/>
            <a:ext cx="17602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kern="0" spc="285" dirty="0">
                <a:solidFill>
                  <a:srgbClr val="7A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425" b="1" dirty="0"/>
          </a:p>
        </p:txBody>
      </p:sp>
      <p:sp>
        <p:nvSpPr>
          <p:cNvPr id="7" name="Text 4"/>
          <p:cNvSpPr/>
          <p:nvPr/>
        </p:nvSpPr>
        <p:spPr>
          <a:xfrm>
            <a:off x="1143000" y="7648575"/>
            <a:ext cx="249757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Lidor Mashiach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143000" y="8181975"/>
            <a:ext cx="249757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A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209280098</a:t>
            </a:r>
            <a:endParaRPr lang="en-US" sz="1650" b="1" dirty="0"/>
          </a:p>
        </p:txBody>
      </p:sp>
      <p:sp>
        <p:nvSpPr>
          <p:cNvPr id="9" name="Shape 6"/>
          <p:cNvSpPr/>
          <p:nvPr/>
        </p:nvSpPr>
        <p:spPr>
          <a:xfrm>
            <a:off x="3946922" y="7648575"/>
            <a:ext cx="9525" cy="809625"/>
          </a:xfrm>
          <a:prstGeom prst="rect">
            <a:avLst/>
          </a:prstGeom>
          <a:solidFill>
            <a:srgbClr val="C9BC9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4489847" y="7648575"/>
            <a:ext cx="215558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Romy Richter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489847" y="8181975"/>
            <a:ext cx="21555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A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212876551</a:t>
            </a:r>
            <a:endParaRPr lang="en-US" sz="1650" b="1" dirty="0"/>
          </a:p>
        </p:txBody>
      </p:sp>
      <p:sp>
        <p:nvSpPr>
          <p:cNvPr id="12" name="Shape 9"/>
          <p:cNvSpPr/>
          <p:nvPr/>
        </p:nvSpPr>
        <p:spPr>
          <a:xfrm>
            <a:off x="0" y="8877300"/>
            <a:ext cx="18288000" cy="1409700"/>
          </a:xfrm>
          <a:prstGeom prst="rect">
            <a:avLst/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1143000" y="920115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of Computer &amp; Information Sciences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1143000" y="967740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7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Software &amp; Information Systems Engineering · Ben-Gurion University of the Negev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00100"/>
            <a:ext cx="1776984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066800" y="1648718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2653159"/>
            <a:ext cx="8763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2286000" y="2757934"/>
            <a:ext cx="45053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NLI task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00850" y="2872234"/>
            <a:ext cx="6710348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Premise, hypothesis, and the three logical relations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66800" y="3662809"/>
            <a:ext cx="14859000" cy="9525"/>
          </a:xfrm>
          <a:prstGeom prst="rect">
            <a:avLst/>
          </a:prstGeom>
          <a:solidFill>
            <a:srgbClr val="E3DAC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66800" y="3958084"/>
            <a:ext cx="8763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2286000" y="4062859"/>
            <a:ext cx="45053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00850" y="4177159"/>
            <a:ext cx="7168902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strong models stay fragile, as the literature shows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66800" y="4967734"/>
            <a:ext cx="14859000" cy="9525"/>
          </a:xfrm>
          <a:prstGeom prst="rect">
            <a:avLst/>
          </a:prstGeom>
          <a:solidFill>
            <a:srgbClr val="E3DAC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066800" y="5263009"/>
            <a:ext cx="8763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2286000" y="5367784"/>
            <a:ext cx="45053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and our idea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00850" y="5482084"/>
            <a:ext cx="7109966" cy="420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 black box with Deep </a:t>
            </a:r>
            <a:r>
              <a:rPr lang="en-US" sz="2100" i="1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-Nearest Neighbors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66800" y="6272659"/>
            <a:ext cx="14859000" cy="9525"/>
          </a:xfrm>
          <a:prstGeom prst="rect">
            <a:avLst/>
          </a:prstGeom>
          <a:solidFill>
            <a:srgbClr val="E3DAC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066800" y="6567934"/>
            <a:ext cx="8763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750" dirty="0"/>
          </a:p>
        </p:txBody>
      </p:sp>
      <p:sp>
        <p:nvSpPr>
          <p:cNvPr id="17" name="Text 15"/>
          <p:cNvSpPr/>
          <p:nvPr/>
        </p:nvSpPr>
        <p:spPr>
          <a:xfrm>
            <a:off x="2286000" y="6672709"/>
            <a:ext cx="45053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00850" y="6787009"/>
            <a:ext cx="7453432" cy="420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</a:t>
            </a:r>
            <a:r>
              <a:rPr lang="en-US" sz="2100" i="1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 begins, the core of this talk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66800" y="7577584"/>
            <a:ext cx="14859000" cy="9525"/>
          </a:xfrm>
          <a:prstGeom prst="rect">
            <a:avLst/>
          </a:prstGeom>
          <a:solidFill>
            <a:srgbClr val="E3DAC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1066800" y="7872859"/>
            <a:ext cx="8763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750" dirty="0"/>
          </a:p>
        </p:txBody>
      </p:sp>
      <p:sp>
        <p:nvSpPr>
          <p:cNvPr id="21" name="Text 19"/>
          <p:cNvSpPr/>
          <p:nvPr/>
        </p:nvSpPr>
        <p:spPr>
          <a:xfrm>
            <a:off x="2286000" y="7977634"/>
            <a:ext cx="45053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00850" y="8091934"/>
            <a:ext cx="6129501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gap, the questions, and our angle of attack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001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as a test of understanding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6344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3062288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5C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Inference is a core task of </a:t>
            </a:r>
            <a:r>
              <a:rPr lang="en-US" sz="25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Understanding </a:t>
            </a:r>
            <a:r>
              <a:rPr lang="en-US" sz="2550" dirty="0">
                <a:solidFill>
                  <a:srgbClr val="5C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whether a model truly grasps meaning, not just surface patterns in the text.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066800" y="4534793"/>
            <a:ext cx="4514850" cy="2276475"/>
          </a:xfrm>
          <a:prstGeom prst="roundRect">
            <a:avLst>
              <a:gd name="adj" fmla="val 669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419225" y="4849118"/>
            <a:ext cx="4191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9A8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INPUT SENTENCES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1419225" y="5249168"/>
            <a:ext cx="41910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419225" y="5868293"/>
            <a:ext cx="3810000" cy="9525"/>
          </a:xfrm>
          <a:prstGeom prst="rect">
            <a:avLst/>
          </a:prstGeom>
          <a:solidFill>
            <a:srgbClr val="EEE5D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419225" y="6049268"/>
            <a:ext cx="41910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5886450" y="5387280"/>
            <a:ext cx="514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6629400" y="4963418"/>
            <a:ext cx="2268587" cy="1419225"/>
          </a:xfrm>
          <a:prstGeom prst="roundRect">
            <a:avLst>
              <a:gd name="adj" fmla="val 10738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7010400" y="5287268"/>
            <a:ext cx="165724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NLI model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7146429" y="5839718"/>
            <a:ext cx="13579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9FB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02787" y="5387280"/>
            <a:ext cx="514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945737" y="5201543"/>
            <a:ext cx="61966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9A8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EXACTLY ONE RELATION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9945737" y="5582543"/>
            <a:ext cx="1824186" cy="561975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0212437" y="5696843"/>
            <a:ext cx="13669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F5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1903273" y="5582543"/>
            <a:ext cx="2128689" cy="561975"/>
          </a:xfrm>
          <a:prstGeom prst="roundRect">
            <a:avLst>
              <a:gd name="adj" fmla="val 50000"/>
            </a:avLst>
          </a:prstGeom>
          <a:solidFill>
            <a:srgbClr val="F1DDD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12169973" y="5696843"/>
            <a:ext cx="16714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4165312" y="5582543"/>
            <a:ext cx="1413718" cy="561975"/>
          </a:xfrm>
          <a:prstGeom prst="roundRect">
            <a:avLst>
              <a:gd name="adj" fmla="val 50000"/>
            </a:avLst>
          </a:prstGeom>
          <a:solidFill>
            <a:srgbClr val="EAE3D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4432012" y="5696843"/>
            <a:ext cx="9565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F6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066800" y="7344668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model can reliably judge the relation between two sentences, we credit it with understanding the language, at least in part.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001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 and hypothesis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6344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4193084"/>
            <a:ext cx="77323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</a:t>
            </a:r>
            <a:endParaRPr lang="en-US" sz="2775" dirty="0"/>
          </a:p>
        </p:txBody>
      </p:sp>
      <p:sp>
        <p:nvSpPr>
          <p:cNvPr id="5" name="Text 3"/>
          <p:cNvSpPr/>
          <p:nvPr/>
        </p:nvSpPr>
        <p:spPr>
          <a:xfrm>
            <a:off x="1066800" y="4821734"/>
            <a:ext cx="773239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given fact, the original sentence we take as true.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066800" y="5603230"/>
            <a:ext cx="77323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</a:t>
            </a:r>
            <a:endParaRPr lang="en-US" sz="2775" dirty="0"/>
          </a:p>
        </p:txBody>
      </p:sp>
      <p:sp>
        <p:nvSpPr>
          <p:cNvPr id="7" name="Text 5"/>
          <p:cNvSpPr/>
          <p:nvPr/>
        </p:nvSpPr>
        <p:spPr>
          <a:xfrm>
            <a:off x="1066800" y="6231880"/>
            <a:ext cx="7240334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sentence we test </a:t>
            </a:r>
            <a:r>
              <a:rPr lang="en-US" sz="2175" i="1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</a:t>
            </a:r>
            <a:r>
              <a:rPr lang="en-US" sz="2175" dirty="0">
                <a:solidFill>
                  <a:srgbClr val="7C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premise. The model returns their relation.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8743950" y="3531840"/>
            <a:ext cx="8477250" cy="4171950"/>
          </a:xfrm>
          <a:prstGeom prst="roundRect">
            <a:avLst>
              <a:gd name="adj" fmla="val 4110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9267825" y="4017615"/>
            <a:ext cx="81724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228" dirty="0">
                <a:solidFill>
                  <a:srgbClr val="9A8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PREMISE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9267825" y="4360515"/>
            <a:ext cx="81724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Danny is eating ice cream.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267825" y="5170140"/>
            <a:ext cx="7429500" cy="9525"/>
          </a:xfrm>
          <a:prstGeom prst="rect">
            <a:avLst/>
          </a:prstGeom>
          <a:solidFill>
            <a:srgbClr val="EEE5D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9267825" y="5465415"/>
            <a:ext cx="81724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228" dirty="0">
                <a:solidFill>
                  <a:srgbClr val="9A8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9267825" y="5808315"/>
            <a:ext cx="81724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Danny is eating dessert.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267825" y="6832253"/>
            <a:ext cx="1363326" cy="17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228" dirty="0">
                <a:solidFill>
                  <a:srgbClr val="9A8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10631151" y="6675090"/>
            <a:ext cx="1910209" cy="542925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0916901" y="6770340"/>
            <a:ext cx="14149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F5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001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possible relations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6344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421410"/>
            <a:ext cx="5181600" cy="3830836"/>
          </a:xfrm>
          <a:prstGeom prst="roundRect">
            <a:avLst>
              <a:gd name="adj" fmla="val 3978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066800" y="7242721"/>
            <a:ext cx="5181600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066800" y="3421410"/>
            <a:ext cx="5181600" cy="57150"/>
          </a:xfrm>
          <a:prstGeom prst="rect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66800" y="3421410"/>
            <a:ext cx="9525" cy="3830836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6238875" y="3421410"/>
            <a:ext cx="9525" cy="3830836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438275" y="3859560"/>
            <a:ext cx="48825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F5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Entailment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38275" y="4669185"/>
            <a:ext cx="457181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hypothesis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</a:t>
            </a:r>
            <a:r>
              <a:rPr lang="en-US" sz="21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premise.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438275" y="5671096"/>
            <a:ext cx="4438650" cy="1190625"/>
          </a:xfrm>
          <a:prstGeom prst="roundRect">
            <a:avLst>
              <a:gd name="adj" fmla="val 9600"/>
            </a:avLst>
          </a:prstGeom>
          <a:solidFill>
            <a:srgbClr val="F1EC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666875" y="5880646"/>
            <a:ext cx="41146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D3527"/>
                </a:solidFill>
                <a:highlight>
                  <a:srgbClr val="F1ECE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Premise: The boy is sleeping. Hypothesis: The boy is resting.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553200" y="3421410"/>
            <a:ext cx="5181600" cy="3830836"/>
          </a:xfrm>
          <a:prstGeom prst="roundRect">
            <a:avLst>
              <a:gd name="adj" fmla="val 3978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6553200" y="7242721"/>
            <a:ext cx="5181600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6553200" y="3421410"/>
            <a:ext cx="5181600" cy="57150"/>
          </a:xfrm>
          <a:prstGeom prst="rect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6553200" y="3421410"/>
            <a:ext cx="9525" cy="3830836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11725275" y="3421410"/>
            <a:ext cx="9525" cy="3830836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6924675" y="3859560"/>
            <a:ext cx="48825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Contradiction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24675" y="4669185"/>
            <a:ext cx="457181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hypothesis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</a:t>
            </a:r>
            <a:r>
              <a:rPr lang="en-US" sz="21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premise.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6924675" y="5671096"/>
            <a:ext cx="4438650" cy="1190625"/>
          </a:xfrm>
          <a:prstGeom prst="roundRect">
            <a:avLst>
              <a:gd name="adj" fmla="val 9600"/>
            </a:avLst>
          </a:prstGeom>
          <a:solidFill>
            <a:srgbClr val="F1EC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153275" y="5880646"/>
            <a:ext cx="41146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D3527"/>
                </a:solidFill>
                <a:highlight>
                  <a:srgbClr val="F1ECE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Premise: The boy is sleeping. Hypothesis: The boy is running.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2039600" y="3421410"/>
            <a:ext cx="5181600" cy="3830836"/>
          </a:xfrm>
          <a:prstGeom prst="roundRect">
            <a:avLst>
              <a:gd name="adj" fmla="val 3978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12039600" y="7242721"/>
            <a:ext cx="5181600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2039600" y="3421410"/>
            <a:ext cx="5181600" cy="57150"/>
          </a:xfrm>
          <a:prstGeom prst="rect">
            <a:avLst/>
          </a:prstGeom>
          <a:solidFill>
            <a:srgbClr val="B08D3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12039600" y="3421410"/>
            <a:ext cx="9525" cy="3830836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17211675" y="3421410"/>
            <a:ext cx="9525" cy="3830836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12411075" y="3859560"/>
            <a:ext cx="488251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A6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Neutral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2411075" y="4669185"/>
            <a:ext cx="488251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follows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</a:t>
            </a:r>
            <a:r>
              <a:rPr lang="en-US" sz="21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conflicts.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12411075" y="5671096"/>
            <a:ext cx="4438650" cy="1190625"/>
          </a:xfrm>
          <a:prstGeom prst="roundRect">
            <a:avLst>
              <a:gd name="adj" fmla="val 9600"/>
            </a:avLst>
          </a:prstGeom>
          <a:solidFill>
            <a:srgbClr val="F1ECE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12639675" y="5880646"/>
            <a:ext cx="41146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D3527"/>
                </a:solidFill>
                <a:highlight>
                  <a:srgbClr val="F1ECE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Premise: The boy is sleeping. Hypothesis: The boy is dreaming.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66800" y="9267825"/>
            <a:ext cx="17769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reflects genuine logical independence, </a:t>
            </a:r>
            <a:r>
              <a:rPr lang="en-US" sz="2100" i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being uncertain.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001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Paraphrase: same meaning, new words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6344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3559522"/>
            <a:ext cx="14127480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4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</a:t>
            </a:r>
            <a:r>
              <a:rPr lang="en-US" sz="24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rewords a sentence while preserving its meaning. The anchor paper verifies this with </a:t>
            </a:r>
            <a:r>
              <a:rPr lang="en-US" sz="24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entailment </a:t>
            </a:r>
            <a:r>
              <a:rPr lang="en-US" sz="24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each sentence must entail the other.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1066800" y="4985296"/>
            <a:ext cx="6705600" cy="1762125"/>
          </a:xfrm>
          <a:prstGeom prst="roundRect">
            <a:avLst>
              <a:gd name="adj" fmla="val 9730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514475" y="5394871"/>
            <a:ext cx="63912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22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HYPOTHESIS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1514475" y="5813971"/>
            <a:ext cx="63912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Danny is eating dessert.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905875" y="5342483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7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8153400" y="5933033"/>
            <a:ext cx="1981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kern="0" spc="114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SYMMETRIC ENTAILMENT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10515600" y="4985296"/>
            <a:ext cx="6705600" cy="1762125"/>
          </a:xfrm>
          <a:prstGeom prst="roundRect">
            <a:avLst>
              <a:gd name="adj" fmla="val 9730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0963275" y="5394871"/>
            <a:ext cx="63912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22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PARAPHRASE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10963275" y="5813971"/>
            <a:ext cx="63912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Danny is having a sweet dish.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66800" y="7261771"/>
            <a:ext cx="150876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logic, different surface form. A robust model should return the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relation </a:t>
            </a:r>
            <a:r>
              <a:rPr lang="en-US" sz="225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both.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4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854500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54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02</a:t>
            </a:r>
            <a:endParaRPr lang="en-US" sz="1800" b="1" dirty="0"/>
          </a:p>
        </p:txBody>
      </p:sp>
      <p:sp>
        <p:nvSpPr>
          <p:cNvPr id="3" name="Text 1"/>
          <p:cNvSpPr/>
          <p:nvPr/>
        </p:nvSpPr>
        <p:spPr>
          <a:xfrm>
            <a:off x="1238250" y="4406950"/>
            <a:ext cx="17392650" cy="960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50" b="1" kern="0" spc="-14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7050" dirty="0"/>
          </a:p>
        </p:txBody>
      </p:sp>
      <p:sp>
        <p:nvSpPr>
          <p:cNvPr id="4" name="Shape 2"/>
          <p:cNvSpPr/>
          <p:nvPr/>
        </p:nvSpPr>
        <p:spPr>
          <a:xfrm>
            <a:off x="1238250" y="5633889"/>
            <a:ext cx="800100" cy="38100"/>
          </a:xfrm>
          <a:prstGeom prst="rect">
            <a:avLst/>
          </a:prstGeom>
          <a:solidFill>
            <a:srgbClr val="E7B7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238250" y="5976789"/>
            <a:ext cx="167640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75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benchmark scores, fragile predictions — what the literature already knows.</a:t>
            </a:r>
            <a:endParaRPr lang="en-US" sz="24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b="1" kern="0" spc="-63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Sensitivities and Inconsistent Predictions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66800" y="1422648"/>
            <a:ext cx="17769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i="1" dirty="0">
                <a:solidFill>
                  <a:srgbClr val="4A4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Fragility of NLI Models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066800" y="1975098"/>
            <a:ext cx="33194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74939" y="2103686"/>
            <a:ext cx="47625" cy="47625"/>
          </a:xfrm>
          <a:prstGeom prst="ellipse">
            <a:avLst/>
          </a:prstGeom>
          <a:solidFill>
            <a:srgbClr val="C090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513064" y="1975098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EACL 2024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66800" y="2508498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066800" y="4477643"/>
            <a:ext cx="9131350" cy="3154412"/>
          </a:xfrm>
          <a:prstGeom prst="roundRect">
            <a:avLst>
              <a:gd name="adj" fmla="val 6039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600200" y="4972943"/>
            <a:ext cx="88710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24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CENTRAL CLAIM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1600200" y="5439668"/>
            <a:ext cx="8306486" cy="1735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3375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strong Transformer-based NLI models change their predictions under small, meaning-preserving rewordings.</a:t>
            </a:r>
            <a:endParaRPr lang="en-US" sz="3375" dirty="0"/>
          </a:p>
        </p:txBody>
      </p:sp>
      <p:sp>
        <p:nvSpPr>
          <p:cNvPr id="11" name="Text 9"/>
          <p:cNvSpPr/>
          <p:nvPr/>
        </p:nvSpPr>
        <p:spPr>
          <a:xfrm>
            <a:off x="10769650" y="4400401"/>
            <a:ext cx="70967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diagnosis, not a fix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769650" y="4990951"/>
            <a:ext cx="664509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contribution is a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</a:t>
            </a: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measuring semantic sensitivity, not a new model.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769650" y="6050012"/>
            <a:ext cx="645155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0769650" y="6345287"/>
            <a:ext cx="70967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769650" y="6935837"/>
            <a:ext cx="664509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sharpens a central NLP debate, do language models understand meaning or just match patterns.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inconsistency, illustrated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66800" y="1501080"/>
            <a:ext cx="17769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66800" y="1948755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1066800" y="4090541"/>
            <a:ext cx="4737050" cy="2768650"/>
          </a:xfrm>
          <a:prstGeom prst="roundRect">
            <a:avLst>
              <a:gd name="adj" fmla="val 6193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419225" y="4442966"/>
            <a:ext cx="44354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· ORIGINAL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1419225" y="4862066"/>
            <a:ext cx="415316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Premise: The boy is sleeping. Hypothesis: The boy is resting.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419225" y="5919341"/>
            <a:ext cx="1652439" cy="485775"/>
          </a:xfrm>
          <a:prstGeom prst="roundRect">
            <a:avLst>
              <a:gd name="adj" fmla="val 50000"/>
            </a:avLst>
          </a:prstGeom>
          <a:solidFill>
            <a:srgbClr val="DCE7E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647825" y="6005066"/>
            <a:ext cx="12714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F5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3205014" y="5990779"/>
            <a:ext cx="11668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F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070550" y="4090541"/>
            <a:ext cx="514350" cy="280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2" name="Shape 10"/>
          <p:cNvSpPr/>
          <p:nvPr/>
        </p:nvSpPr>
        <p:spPr>
          <a:xfrm>
            <a:off x="6775400" y="4090541"/>
            <a:ext cx="4737199" cy="2768650"/>
          </a:xfrm>
          <a:prstGeom prst="roundRect">
            <a:avLst>
              <a:gd name="adj" fmla="val 6193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7127825" y="4442966"/>
            <a:ext cx="44355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· PARAPHRASE</a:t>
            </a:r>
            <a:endParaRPr lang="en-US" sz="1600" b="1" dirty="0"/>
          </a:p>
        </p:txBody>
      </p:sp>
      <p:sp>
        <p:nvSpPr>
          <p:cNvPr id="14" name="Text 12"/>
          <p:cNvSpPr/>
          <p:nvPr/>
        </p:nvSpPr>
        <p:spPr>
          <a:xfrm>
            <a:off x="7127825" y="4862066"/>
            <a:ext cx="443558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Paraphrase: The boy is napping.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7127825" y="5466904"/>
            <a:ext cx="415332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meaning, only the wording changed. The premise is unchanged.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779300" y="4090541"/>
            <a:ext cx="514350" cy="280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7" name="Shape 15"/>
          <p:cNvSpPr/>
          <p:nvPr/>
        </p:nvSpPr>
        <p:spPr>
          <a:xfrm>
            <a:off x="12484150" y="4090541"/>
            <a:ext cx="4737050" cy="2768650"/>
          </a:xfrm>
          <a:prstGeom prst="roundRect">
            <a:avLst>
              <a:gd name="adj" fmla="val 6193"/>
            </a:avLst>
          </a:prstGeom>
          <a:solidFill>
            <a:srgbClr val="F7E7DC"/>
          </a:solidFill>
          <a:ln w="9525">
            <a:solidFill>
              <a:srgbClr val="E4C3A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2836575" y="4442966"/>
            <a:ext cx="44354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B0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· RE-TEST</a:t>
            </a:r>
            <a:endParaRPr lang="en-US" sz="1600" b="1" dirty="0"/>
          </a:p>
        </p:txBody>
      </p:sp>
      <p:sp>
        <p:nvSpPr>
          <p:cNvPr id="19" name="Text 17"/>
          <p:cNvSpPr/>
          <p:nvPr/>
        </p:nvSpPr>
        <p:spPr>
          <a:xfrm>
            <a:off x="12836575" y="4862066"/>
            <a:ext cx="415316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Premise: The boy is sleeping. Paraphrase: The boy is napping.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2836575" y="5919341"/>
            <a:ext cx="1934319" cy="485775"/>
          </a:xfrm>
          <a:prstGeom prst="roundRect">
            <a:avLst>
              <a:gd name="adj" fmla="val 50000"/>
            </a:avLst>
          </a:prstGeom>
          <a:solidFill>
            <a:srgbClr val="F1DDD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3065175" y="6005066"/>
            <a:ext cx="15533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4904244" y="5990779"/>
            <a:ext cx="1175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0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flipped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066800" y="9229725"/>
            <a:ext cx="177698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meaning. Opposite prediction.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semantic inconsistency.</a:t>
            </a:r>
            <a:endParaRPr lang="en-US" sz="23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fragility is measured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66800" y="1501080"/>
            <a:ext cx="17769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66800" y="1948755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4171950"/>
            <a:ext cx="304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04950" y="4171950"/>
            <a:ext cx="44933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examples the model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gets right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115050" y="4171950"/>
            <a:ext cx="4572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743700" y="4171950"/>
            <a:ext cx="304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181850" y="4171950"/>
            <a:ext cx="449332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five meaning-preserving paraphrases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hypothesis.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791950" y="4171950"/>
            <a:ext cx="4572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420600" y="4171950"/>
            <a:ext cx="304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858750" y="4171950"/>
            <a:ext cx="44933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Re-test, and count how often the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changes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66800" y="5810250"/>
            <a:ext cx="7934325" cy="1624905"/>
          </a:xfrm>
          <a:prstGeom prst="roundRect">
            <a:avLst>
              <a:gd name="adj" fmla="val 9379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438275" y="6124575"/>
            <a:ext cx="79105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F5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Relaxed Fooling Rate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38275" y="6734175"/>
            <a:ext cx="791051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</a:t>
            </a: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the prediction after paraphrasing.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86875" y="5810250"/>
            <a:ext cx="7934325" cy="1624905"/>
          </a:xfrm>
          <a:prstGeom prst="roundRect">
            <a:avLst>
              <a:gd name="adj" fmla="val 9379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9658350" y="6124575"/>
            <a:ext cx="79105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Fooling Rate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658350" y="6734175"/>
            <a:ext cx="791051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flip</a:t>
            </a:r>
            <a:r>
              <a:rPr lang="en-US" sz="2100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Entailment becomes Contradiction.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found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66800" y="1501080"/>
            <a:ext cx="17769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66800" y="1948755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4655195"/>
            <a:ext cx="3038475" cy="1160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3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12.9</a:t>
            </a:r>
            <a:r>
              <a:rPr lang="en-US" sz="49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9300" dirty="0"/>
          </a:p>
        </p:txBody>
      </p:sp>
      <p:sp>
        <p:nvSpPr>
          <p:cNvPr id="6" name="Text 4"/>
          <p:cNvSpPr/>
          <p:nvPr/>
        </p:nvSpPr>
        <p:spPr>
          <a:xfrm>
            <a:off x="1066800" y="5910560"/>
            <a:ext cx="2845118" cy="1079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Relaxed Fooling Rate,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in-domain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381500" y="4655195"/>
            <a:ext cx="3038475" cy="1160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30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23.7</a:t>
            </a:r>
            <a:r>
              <a:rPr lang="en-US" sz="495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9300" dirty="0"/>
          </a:p>
        </p:txBody>
      </p:sp>
      <p:sp>
        <p:nvSpPr>
          <p:cNvPr id="8" name="Text 6"/>
          <p:cNvSpPr/>
          <p:nvPr/>
        </p:nvSpPr>
        <p:spPr>
          <a:xfrm>
            <a:off x="4381500" y="5910560"/>
            <a:ext cx="2845118" cy="1079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Relaxed Fooling Rate,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out-of-domain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7753350" y="1986855"/>
            <a:ext cx="9525" cy="763339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8372475" y="4763542"/>
            <a:ext cx="185589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8653314" y="4763542"/>
            <a:ext cx="882492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models are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fragile, distilled models lose the most stability.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8372475" y="5803553"/>
            <a:ext cx="18558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8653314" y="5803553"/>
            <a:ext cx="860955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very large models still suffer from semantic inconsistency.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8372475" y="6456908"/>
            <a:ext cx="18558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8653314" y="6456908"/>
            <a:ext cx="589654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effect is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zero-shot setting.</a:t>
            </a:r>
            <a:endParaRPr lang="en-US" sz="21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verdict, again and again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2950815"/>
            <a:ext cx="49244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for the Wrong Reasons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1066800" y="3484215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McCoy et al., 2019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981700" y="2998440"/>
            <a:ext cx="11953603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lean on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syntactic heuristics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lexical overlap, accuracy collapses when the shortcut fails.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66800" y="3941415"/>
            <a:ext cx="1615440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66800" y="4141440"/>
            <a:ext cx="49244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NLI Systems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066800" y="4674840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Glockner et al., 2018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981700" y="4189065"/>
            <a:ext cx="1236345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SNLI scores, yet failure on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lexical inference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synonyms and antonyms.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66800" y="5132040"/>
            <a:ext cx="1615440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066800" y="5332065"/>
            <a:ext cx="49244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 Evaluation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1066800" y="5865465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Naik et al., 2018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981700" y="5379690"/>
            <a:ext cx="1236345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drops under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negation, antonymy, word overlap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noisy input.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66800" y="6322665"/>
            <a:ext cx="1615440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066800" y="6522690"/>
            <a:ext cx="4611052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Probing with Semantic Fragments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1066800" y="7532340"/>
            <a:ext cx="4924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Richardson et al., 2020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981700" y="6570315"/>
            <a:ext cx="1236345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 on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logic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negation, quantifiers, comparatives, and counting.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66800" y="9286875"/>
            <a:ext cx="177698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benchmark accuracy is not real language understanding.</a:t>
            </a:r>
            <a:endParaRPr lang="en-US" sz="24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kept measuring the output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693468"/>
            <a:ext cx="5194250" cy="3229421"/>
          </a:xfrm>
          <a:prstGeom prst="roundRect">
            <a:avLst>
              <a:gd name="adj" fmla="val 5309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19225" y="4064943"/>
            <a:ext cx="4624082" cy="781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Often Are Errors Due to Paraphrastic Variability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9225" y="4998988"/>
            <a:ext cx="4938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Srikanth et al., 2024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19225" y="5456188"/>
            <a:ext cx="4624082" cy="11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Paraphrastic Consistency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chance a model stays consistent on a pair.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46800" y="3693468"/>
            <a:ext cx="5194399" cy="3229421"/>
          </a:xfrm>
          <a:prstGeom prst="roundRect">
            <a:avLst>
              <a:gd name="adj" fmla="val 5309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6899225" y="4250829"/>
            <a:ext cx="4938504" cy="4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99225" y="4813102"/>
            <a:ext cx="49385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Zgreabănă et al., 2025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899225" y="5270302"/>
            <a:ext cx="4624236" cy="1133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Accuracy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consistency over a whole set of paraphrases.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026950" y="3693468"/>
            <a:ext cx="5194250" cy="3229421"/>
          </a:xfrm>
          <a:prstGeom prst="roundRect">
            <a:avLst>
              <a:gd name="adj" fmla="val 5309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2379375" y="4433292"/>
            <a:ext cx="4938340" cy="4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Transitive Self-Consistency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79375" y="4995565"/>
            <a:ext cx="4938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Wu &amp; Last, 2025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2379375" y="5452765"/>
            <a:ext cx="4624082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consistency across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chains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without gold labels.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66800" y="9248775"/>
            <a:ext cx="177698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Valuable metrics, but all of them score the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None ask </a:t>
            </a:r>
            <a:r>
              <a:rPr lang="en-US" sz="2250" i="1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model it breaks.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4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849737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54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03</a:t>
            </a:r>
            <a:endParaRPr lang="en-US" sz="1800" b="1" dirty="0"/>
          </a:p>
        </p:txBody>
      </p:sp>
      <p:sp>
        <p:nvSpPr>
          <p:cNvPr id="3" name="Text 1"/>
          <p:cNvSpPr/>
          <p:nvPr/>
        </p:nvSpPr>
        <p:spPr>
          <a:xfrm>
            <a:off x="1238250" y="4402187"/>
            <a:ext cx="17392650" cy="960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50" b="1" kern="0" spc="-14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and our idea</a:t>
            </a:r>
            <a:endParaRPr lang="en-US" sz="7050" dirty="0"/>
          </a:p>
        </p:txBody>
      </p:sp>
      <p:sp>
        <p:nvSpPr>
          <p:cNvPr id="4" name="Shape 2"/>
          <p:cNvSpPr/>
          <p:nvPr/>
        </p:nvSpPr>
        <p:spPr>
          <a:xfrm>
            <a:off x="1238250" y="5629126"/>
            <a:ext cx="800100" cy="38100"/>
          </a:xfrm>
          <a:prstGeom prst="rect">
            <a:avLst/>
          </a:prstGeom>
          <a:solidFill>
            <a:srgbClr val="E7B7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238250" y="5972026"/>
            <a:ext cx="16764000" cy="503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75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Adapting Deep </a:t>
            </a:r>
            <a:r>
              <a:rPr lang="en-US" sz="2475" i="1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2475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-Nearest Neighbors to ask </a:t>
            </a:r>
            <a:r>
              <a:rPr lang="en-US" sz="2475" i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r>
              <a:rPr lang="en-US" sz="2475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inside the model, meaning breaks.</a:t>
            </a:r>
            <a:endParaRPr lang="en-US" sz="24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4160490"/>
            <a:ext cx="46101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210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KNOW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1066800" y="4589115"/>
            <a:ext cx="431673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phenomenon is real, documented across dozens of models and datasets.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76900" y="1691580"/>
            <a:ext cx="11544300" cy="7271445"/>
          </a:xfrm>
          <a:prstGeom prst="roundRect">
            <a:avLst>
              <a:gd name="adj" fmla="val 2620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153150" y="3987254"/>
            <a:ext cx="116509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21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MISSING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6153150" y="4492079"/>
            <a:ext cx="238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E7B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505575" y="4557394"/>
            <a:ext cx="1054655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 </a:t>
            </a: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it rarely builds mechanisms that improve consistency.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153150" y="5513040"/>
            <a:ext cx="23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E7B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505575" y="5591418"/>
            <a:ext cx="975127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unclear how to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</a:t>
            </a: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to stay consistent under semantic variation.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153150" y="6214021"/>
            <a:ext cx="238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E7B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505575" y="6318525"/>
            <a:ext cx="9631704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has opened the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</a:t>
            </a: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ask </a:t>
            </a:r>
            <a:r>
              <a:rPr lang="en-US" sz="2175" i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175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inconsistency originates.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066800" y="9210675"/>
            <a:ext cx="177698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625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measured the result. No one localized the cause.</a:t>
            </a:r>
            <a:endParaRPr lang="en-US" sz="26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04850"/>
            <a:ext cx="1802130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b="1" kern="0" spc="-63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</a:t>
            </a:r>
            <a:r>
              <a:rPr lang="en-US" sz="4200" b="1" i="1" kern="0" spc="-63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4200" b="1" kern="0" spc="-63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-Nearest Neighbors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52500" y="1384548"/>
            <a:ext cx="34575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Papernot &amp; McDaniel, 2018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267200" y="1403598"/>
            <a:ext cx="94235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i="1" dirty="0">
                <a:solidFill>
                  <a:srgbClr val="6B5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k-Nearest Neighbors: Towards Confident, Interpretable and Robust Deep Learning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52500" y="1813173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952500" y="3773537"/>
            <a:ext cx="8934450" cy="1652588"/>
          </a:xfrm>
          <a:prstGeom prst="roundRect">
            <a:avLst>
              <a:gd name="adj" fmla="val 9222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266825" y="4049762"/>
            <a:ext cx="91363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USUAL WAY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1266825" y="4392662"/>
            <a:ext cx="8554974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read only the model's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trust it — the reasoning inside stays hidden.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5635675"/>
            <a:ext cx="8934450" cy="1633538"/>
          </a:xfrm>
          <a:prstGeom prst="roundRect">
            <a:avLst>
              <a:gd name="adj" fmla="val 9329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257300" y="5902375"/>
            <a:ext cx="91573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K-NN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1257300" y="6245275"/>
            <a:ext cx="8574596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layer it asks,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training examples does this input most resemble, and what were their labels </a:t>
            </a:r>
            <a:r>
              <a:rPr lang="en-US" sz="21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44150" y="3292525"/>
            <a:ext cx="6991350" cy="4457700"/>
          </a:xfrm>
          <a:prstGeom prst="roundRect">
            <a:avLst>
              <a:gd name="adj" fmla="val 3846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0696575" y="3587800"/>
            <a:ext cx="6915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ONE LAYER</a:t>
            </a:r>
            <a:endParaRPr lang="en-US" sz="1600" b="1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6575" y="3911650"/>
            <a:ext cx="6286500" cy="31432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2700000">
            <a:off x="11605320" y="7235875"/>
            <a:ext cx="171450" cy="171450"/>
          </a:xfrm>
          <a:prstGeom prst="rect">
            <a:avLst/>
          </a:prstGeom>
          <a:solidFill>
            <a:srgbClr val="22302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3"/>
          <p:cNvSpPr/>
          <p:nvPr/>
        </p:nvSpPr>
        <p:spPr>
          <a:xfrm>
            <a:off x="11862495" y="7188250"/>
            <a:ext cx="880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2914561" y="7235875"/>
            <a:ext cx="171450" cy="171450"/>
          </a:xfrm>
          <a:prstGeom prst="ellipse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13171736" y="7188250"/>
            <a:ext cx="2110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 neighbors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5338078" y="7235875"/>
            <a:ext cx="171450" cy="171450"/>
          </a:xfrm>
          <a:prstGeom prst="ellipse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15595253" y="7188250"/>
            <a:ext cx="5552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952500" y="9363075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neighbors are Entailment, so this layer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Entailment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Repeat across every layer and tally the votes.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Credibility: consistent internal support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66800" y="1501080"/>
            <a:ext cx="17769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Deep k-NN signal · Papernot &amp; McDaniel, 2018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66800" y="1948755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4317802"/>
            <a:ext cx="8260652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layers, gather each input's </a:t>
            </a:r>
            <a:r>
              <a:rPr lang="en-US" sz="24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nearest training neighbors </a:t>
            </a:r>
            <a:r>
              <a:rPr lang="en-US" sz="24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Credibility is the share of those neighbors that support the final label.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800" y="5929164"/>
            <a:ext cx="8020050" cy="1359991"/>
          </a:xfrm>
          <a:prstGeom prst="roundRect">
            <a:avLst>
              <a:gd name="adj" fmla="val 9805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371600" y="6195864"/>
            <a:ext cx="765105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what the model decided, but how consistent its thinking was along the way.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9696450" y="4184303"/>
            <a:ext cx="7524750" cy="3238500"/>
          </a:xfrm>
          <a:prstGeom prst="roundRect">
            <a:avLst>
              <a:gd name="adj" fmla="val 529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0125075" y="4593878"/>
            <a:ext cx="7334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D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layers × K=10 = </a:t>
            </a:r>
            <a:r>
              <a:rPr lang="en-US" sz="180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votes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25075" y="5203478"/>
            <a:ext cx="20190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of 120 agree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5283607" y="5203478"/>
            <a:ext cx="19375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F5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credibility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125075" y="5613053"/>
            <a:ext cx="5534025" cy="342900"/>
          </a:xfrm>
          <a:prstGeom prst="rect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15659100" y="5613053"/>
            <a:ext cx="1133475" cy="342900"/>
          </a:xfrm>
          <a:prstGeom prst="rect">
            <a:avLst/>
          </a:prstGeom>
          <a:solidFill>
            <a:srgbClr val="E4D8C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0125075" y="6260753"/>
            <a:ext cx="18618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0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of 120 agree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376475" y="6260753"/>
            <a:ext cx="15577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credibility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125075" y="6670328"/>
            <a:ext cx="2800350" cy="342900"/>
          </a:xfrm>
          <a:prstGeom prst="rect">
            <a:avLst/>
          </a:prstGeom>
          <a:solidFill>
            <a:srgbClr val="C16A3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12925425" y="6670328"/>
            <a:ext cx="3867150" cy="342900"/>
          </a:xfrm>
          <a:prstGeom prst="rect">
            <a:avLst/>
          </a:prstGeom>
          <a:solidFill>
            <a:srgbClr val="E4D8C2"/>
          </a:solidFill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09600"/>
            <a:ext cx="17769840" cy="583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050" b="1" kern="0" spc="-6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ask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1066800" y="1326207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1573857"/>
            <a:ext cx="16154400" cy="2083891"/>
          </a:xfrm>
          <a:prstGeom prst="roundRect">
            <a:avLst>
              <a:gd name="adj" fmla="val 9142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85900" y="1897707"/>
            <a:ext cx="168478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42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RESEARCH QUESTION</a:t>
            </a:r>
            <a:endParaRPr lang="en-US" sz="1725" b="1" dirty="0"/>
          </a:p>
        </p:txBody>
      </p:sp>
      <p:sp>
        <p:nvSpPr>
          <p:cNvPr id="6" name="Text 4"/>
          <p:cNvSpPr/>
          <p:nvPr/>
        </p:nvSpPr>
        <p:spPr>
          <a:xfrm>
            <a:off x="1485900" y="2316807"/>
            <a:ext cx="15775686" cy="105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3000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semantic inconsistency of NLI models arise already in their </a:t>
            </a: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representations </a:t>
            </a:r>
            <a:r>
              <a:rPr lang="en-US" sz="3000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only in the final output?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66800" y="3848249"/>
            <a:ext cx="177698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42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RESEARCH QUESTIONS</a:t>
            </a:r>
            <a:endParaRPr lang="en-US" sz="1725" b="1" dirty="0"/>
          </a:p>
        </p:txBody>
      </p:sp>
      <p:sp>
        <p:nvSpPr>
          <p:cNvPr id="8" name="Shape 6"/>
          <p:cNvSpPr/>
          <p:nvPr/>
        </p:nvSpPr>
        <p:spPr>
          <a:xfrm>
            <a:off x="1066800" y="4267349"/>
            <a:ext cx="5219700" cy="2267396"/>
          </a:xfrm>
          <a:prstGeom prst="roundRect">
            <a:avLst>
              <a:gd name="adj" fmla="val 6721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381125" y="4753124"/>
            <a:ext cx="50501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381125" y="5286524"/>
            <a:ext cx="4728782" cy="800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credibility 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associated with semantic inconsistency?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6534150" y="4267349"/>
            <a:ext cx="5219700" cy="2267396"/>
          </a:xfrm>
          <a:prstGeom prst="roundRect">
            <a:avLst>
              <a:gd name="adj" fmla="val 6721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6848475" y="4562624"/>
            <a:ext cx="50501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848475" y="5096024"/>
            <a:ext cx="4728782" cy="1181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layer region 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most pronounced, and what does that imply?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2001500" y="4267349"/>
            <a:ext cx="5219700" cy="2267396"/>
          </a:xfrm>
          <a:prstGeom prst="roundRect">
            <a:avLst>
              <a:gd name="adj" fmla="val 6721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12315825" y="4753124"/>
            <a:ext cx="50501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315825" y="5286524"/>
            <a:ext cx="4728782" cy="800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credibility serve as a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for targeted improvement?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66800" y="8484989"/>
            <a:ext cx="16154400" cy="1268611"/>
          </a:xfrm>
          <a:prstGeom prst="roundRect">
            <a:avLst>
              <a:gd name="adj" fmla="val 12013"/>
            </a:avLst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409700" y="8990707"/>
            <a:ext cx="15087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CFE6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</a:t>
            </a:r>
            <a:endParaRPr lang="en-US" sz="1600" b="1" dirty="0"/>
          </a:p>
        </p:txBody>
      </p:sp>
      <p:sp>
        <p:nvSpPr>
          <p:cNvPr id="19" name="Text 17"/>
          <p:cNvSpPr/>
          <p:nvPr/>
        </p:nvSpPr>
        <p:spPr>
          <a:xfrm>
            <a:off x="3067050" y="8732639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pairs show high credibility. Inconsistent pairs show a credibility drop from the hypothesis to its paraphrase.</a:t>
            </a:r>
            <a:endParaRPr lang="en-US" sz="21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4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621881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54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04</a:t>
            </a:r>
            <a:endParaRPr lang="en-US" sz="1800" b="1" dirty="0"/>
          </a:p>
        </p:txBody>
      </p:sp>
      <p:sp>
        <p:nvSpPr>
          <p:cNvPr id="3" name="Text 1"/>
          <p:cNvSpPr/>
          <p:nvPr/>
        </p:nvSpPr>
        <p:spPr>
          <a:xfrm>
            <a:off x="1238250" y="4174331"/>
            <a:ext cx="17392650" cy="960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50" b="1" kern="0" spc="-14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7050" dirty="0"/>
          </a:p>
        </p:txBody>
      </p:sp>
      <p:sp>
        <p:nvSpPr>
          <p:cNvPr id="4" name="Shape 2"/>
          <p:cNvSpPr/>
          <p:nvPr/>
        </p:nvSpPr>
        <p:spPr>
          <a:xfrm>
            <a:off x="1238250" y="5401270"/>
            <a:ext cx="800100" cy="38100"/>
          </a:xfrm>
          <a:prstGeom prst="rect">
            <a:avLst/>
          </a:prstGeom>
          <a:solidFill>
            <a:srgbClr val="E7B75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238250" y="5744170"/>
            <a:ext cx="11772900" cy="959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75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</a:t>
            </a:r>
            <a:r>
              <a:rPr lang="en-US" sz="2475" i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475" dirty="0">
                <a:solidFill>
                  <a:srgbClr val="D7E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breaks — three measurements, two phases, every choice grounded in the literature.</a:t>
            </a:r>
            <a:endParaRPr lang="en-US" sz="24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Datasets: SNLI, MNLI, ANLI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760589"/>
            <a:ext cx="5194250" cy="2693491"/>
          </a:xfrm>
          <a:prstGeom prst="roundRect">
            <a:avLst>
              <a:gd name="adj" fmla="val 565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00175" y="4074914"/>
            <a:ext cx="964704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SNLI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47331" y="4265414"/>
            <a:ext cx="2508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Bowman et al., 2015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00175" y="4827389"/>
            <a:ext cx="466332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pairs from image captions, the first large-scale NLI corpus.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00175" y="5749230"/>
            <a:ext cx="4980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1F6E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EASIEST</a:t>
            </a:r>
            <a:endParaRPr lang="en-US" sz="1350" b="1" dirty="0"/>
          </a:p>
        </p:txBody>
      </p:sp>
      <p:sp>
        <p:nvSpPr>
          <p:cNvPr id="9" name="Shape 7"/>
          <p:cNvSpPr/>
          <p:nvPr/>
        </p:nvSpPr>
        <p:spPr>
          <a:xfrm>
            <a:off x="1400175" y="6044505"/>
            <a:ext cx="1471017" cy="95250"/>
          </a:xfrm>
          <a:prstGeom prst="roundRect">
            <a:avLst>
              <a:gd name="adj" fmla="val 50000"/>
            </a:avLst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928342" y="6044505"/>
            <a:ext cx="1471166" cy="95250"/>
          </a:xfrm>
          <a:prstGeom prst="roundRect">
            <a:avLst>
              <a:gd name="adj" fmla="val 50000"/>
            </a:avLst>
          </a:prstGeom>
          <a:solidFill>
            <a:srgbClr val="DCD3B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4456658" y="6044505"/>
            <a:ext cx="1471017" cy="95250"/>
          </a:xfrm>
          <a:prstGeom prst="roundRect">
            <a:avLst>
              <a:gd name="adj" fmla="val 50000"/>
            </a:avLst>
          </a:prstGeom>
          <a:solidFill>
            <a:srgbClr val="DCD3B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6546800" y="3760589"/>
            <a:ext cx="5194399" cy="2693491"/>
          </a:xfrm>
          <a:prstGeom prst="roundRect">
            <a:avLst>
              <a:gd name="adj" fmla="val 565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880175" y="4074914"/>
            <a:ext cx="11278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MNLI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87420" y="4265414"/>
            <a:ext cx="27724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Williams et al., 2018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6880175" y="4827389"/>
            <a:ext cx="4663479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genres, from fiction to telephone speech, broad coverage.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880175" y="5749230"/>
            <a:ext cx="498041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350" b="1" dirty="0"/>
          </a:p>
        </p:txBody>
      </p:sp>
      <p:sp>
        <p:nvSpPr>
          <p:cNvPr id="17" name="Shape 15"/>
          <p:cNvSpPr/>
          <p:nvPr/>
        </p:nvSpPr>
        <p:spPr>
          <a:xfrm>
            <a:off x="6880175" y="6044505"/>
            <a:ext cx="1471017" cy="95250"/>
          </a:xfrm>
          <a:prstGeom prst="roundRect">
            <a:avLst>
              <a:gd name="adj" fmla="val 50000"/>
            </a:avLst>
          </a:prstGeom>
          <a:solidFill>
            <a:srgbClr val="C090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8408343" y="6044505"/>
            <a:ext cx="1471166" cy="95250"/>
          </a:xfrm>
          <a:prstGeom prst="roundRect">
            <a:avLst>
              <a:gd name="adj" fmla="val 50000"/>
            </a:avLst>
          </a:prstGeom>
          <a:solidFill>
            <a:srgbClr val="C090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9936659" y="6044505"/>
            <a:ext cx="1471166" cy="95250"/>
          </a:xfrm>
          <a:prstGeom prst="roundRect">
            <a:avLst>
              <a:gd name="adj" fmla="val 50000"/>
            </a:avLst>
          </a:prstGeom>
          <a:solidFill>
            <a:srgbClr val="DCD3B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12026950" y="3760589"/>
            <a:ext cx="5194250" cy="2693491"/>
          </a:xfrm>
          <a:prstGeom prst="roundRect">
            <a:avLst>
              <a:gd name="adj" fmla="val 565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2360325" y="4074914"/>
            <a:ext cx="104819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ANLI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967496" y="4265414"/>
            <a:ext cx="21123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Nie et al., 2020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2360325" y="4827389"/>
            <a:ext cx="466332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</a:t>
            </a:r>
            <a:r>
              <a:rPr lang="en-US" sz="19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adversarially </a:t>
            </a: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models, deliberately hard.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360325" y="5749230"/>
            <a:ext cx="4980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9C4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HARDEST</a:t>
            </a:r>
            <a:endParaRPr lang="en-US" sz="1350" b="1" dirty="0"/>
          </a:p>
        </p:txBody>
      </p:sp>
      <p:sp>
        <p:nvSpPr>
          <p:cNvPr id="25" name="Shape 23"/>
          <p:cNvSpPr/>
          <p:nvPr/>
        </p:nvSpPr>
        <p:spPr>
          <a:xfrm>
            <a:off x="12360325" y="6044505"/>
            <a:ext cx="1471017" cy="95250"/>
          </a:xfrm>
          <a:prstGeom prst="roundRect">
            <a:avLst>
              <a:gd name="adj" fmla="val 50000"/>
            </a:avLst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13888492" y="6044505"/>
            <a:ext cx="1471166" cy="95250"/>
          </a:xfrm>
          <a:prstGeom prst="roundRect">
            <a:avLst>
              <a:gd name="adj" fmla="val 50000"/>
            </a:avLst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Shape 25"/>
          <p:cNvSpPr/>
          <p:nvPr/>
        </p:nvSpPr>
        <p:spPr>
          <a:xfrm>
            <a:off x="15416808" y="6044505"/>
            <a:ext cx="1471017" cy="95250"/>
          </a:xfrm>
          <a:prstGeom prst="roundRect">
            <a:avLst>
              <a:gd name="adj" fmla="val 50000"/>
            </a:avLst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1066800" y="6758880"/>
            <a:ext cx="1530477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datasets that recur most across the reviewed work, spanning increasing difficulty. We keep them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merging would blur where any improvement came from.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under study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4293840"/>
            <a:ext cx="4719638" cy="1219200"/>
          </a:xfrm>
          <a:prstGeom prst="roundRect">
            <a:avLst>
              <a:gd name="adj" fmla="val 1093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19225" y="4627215"/>
            <a:ext cx="41563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RoBERTa-large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015038" y="4293840"/>
            <a:ext cx="4719638" cy="1219200"/>
          </a:xfrm>
          <a:prstGeom prst="roundRect">
            <a:avLst>
              <a:gd name="adj" fmla="val 1093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367463" y="4627215"/>
            <a:ext cx="41563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DeBERTa-large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066800" y="5741640"/>
            <a:ext cx="4719638" cy="1219200"/>
          </a:xfrm>
          <a:prstGeom prst="roundRect">
            <a:avLst>
              <a:gd name="adj" fmla="val 1093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419225" y="6075015"/>
            <a:ext cx="41563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BERT-base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6015038" y="5741640"/>
            <a:ext cx="4719638" cy="1219200"/>
          </a:xfrm>
          <a:prstGeom prst="roundRect">
            <a:avLst>
              <a:gd name="adj" fmla="val 10938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367463" y="6075015"/>
            <a:ext cx="41563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BART-large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1306175" y="1634430"/>
            <a:ext cx="9525" cy="7985820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1887200" y="3906292"/>
            <a:ext cx="54940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models that appear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often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surveyed work.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887200" y="5020717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 Nie et al., 2020 · Wu &amp; Last, 2025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887200" y="6018758"/>
            <a:ext cx="533400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1887200" y="6314033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8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850" dirty="0"/>
          </a:p>
        </p:txBody>
      </p:sp>
      <p:sp>
        <p:nvSpPr>
          <p:cNvPr id="17" name="Text 15"/>
          <p:cNvSpPr/>
          <p:nvPr/>
        </p:nvSpPr>
        <p:spPr>
          <a:xfrm>
            <a:off x="12839700" y="6628358"/>
            <a:ext cx="297449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dataset pairs (4 models × 3 datasets)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</a:t>
            </a:r>
            <a:r>
              <a:rPr lang="en-US" sz="4500" b="1" i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</a:t>
            </a: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 setup decision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144427" y="3910391"/>
            <a:ext cx="17716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SEVERAL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1066800" y="4265265"/>
            <a:ext cx="1771650" cy="676275"/>
          </a:xfrm>
          <a:prstGeom prst="roundRect">
            <a:avLst>
              <a:gd name="adj" fmla="val 1408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438275" y="4417665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66800" y="5074890"/>
            <a:ext cx="1771650" cy="676275"/>
          </a:xfrm>
          <a:prstGeom prst="roundRect">
            <a:avLst>
              <a:gd name="adj" fmla="val 1408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438275" y="5227290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10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66800" y="5884515"/>
            <a:ext cx="1771650" cy="676275"/>
          </a:xfrm>
          <a:prstGeom prst="roundRect">
            <a:avLst>
              <a:gd name="adj" fmla="val 1408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438275" y="6036915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20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800" y="6694140"/>
            <a:ext cx="1771650" cy="676275"/>
          </a:xfrm>
          <a:prstGeom prst="roundRect">
            <a:avLst>
              <a:gd name="adj" fmla="val 1408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438275" y="6846540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C2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162300" y="5332065"/>
            <a:ext cx="533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943350" y="4481513"/>
            <a:ext cx="8839200" cy="2291655"/>
          </a:xfrm>
          <a:prstGeom prst="roundRect">
            <a:avLst>
              <a:gd name="adj" fmla="val 7481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391025" y="4891088"/>
            <a:ext cx="818216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</a:t>
            </a:r>
            <a:r>
              <a:rPr lang="en-US" sz="2700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</a:t>
            </a: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maximizes the correlation between </a:t>
            </a:r>
            <a:r>
              <a:rPr lang="en-US" sz="270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credibility </a:t>
            </a: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r>
              <a:rPr lang="en-US" sz="270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inconsistency</a:t>
            </a:r>
            <a:r>
              <a:rPr lang="en-US" sz="27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391025" y="5976938"/>
            <a:ext cx="873823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before any experiment is run.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106400" y="4463802"/>
            <a:ext cx="4114800" cy="2327077"/>
          </a:xfrm>
          <a:prstGeom prst="roundRect">
            <a:avLst>
              <a:gd name="adj" fmla="val 6549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3449300" y="4806702"/>
            <a:ext cx="3771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7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K PER</a:t>
            </a:r>
            <a:endParaRPr lang="en-US" sz="1600" b="1" dirty="0"/>
          </a:p>
        </p:txBody>
      </p:sp>
      <p:sp>
        <p:nvSpPr>
          <p:cNvPr id="19" name="Text 17"/>
          <p:cNvSpPr/>
          <p:nvPr/>
        </p:nvSpPr>
        <p:spPr>
          <a:xfrm>
            <a:off x="13449300" y="5187702"/>
            <a:ext cx="377190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× dataset pair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449300" y="5744914"/>
            <a:ext cx="3531870" cy="741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representation spaces respond differently.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experimental pipeline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624709"/>
            <a:ext cx="4914900" cy="1878806"/>
          </a:xfrm>
          <a:prstGeom prst="roundRect">
            <a:avLst>
              <a:gd name="adj" fmla="val 8112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362075" y="3919984"/>
            <a:ext cx="47567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362075" y="4472434"/>
            <a:ext cx="4756785" cy="406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each model on each dataset.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153150" y="3624709"/>
            <a:ext cx="438150" cy="1916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86550" y="3624709"/>
            <a:ext cx="4914900" cy="1878806"/>
          </a:xfrm>
          <a:prstGeom prst="roundRect">
            <a:avLst>
              <a:gd name="adj" fmla="val 8112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6981825" y="3919984"/>
            <a:ext cx="47567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981825" y="4472434"/>
            <a:ext cx="4454081" cy="773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pairs the model classifies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on the train set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772900" y="3624709"/>
            <a:ext cx="438150" cy="1916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2306300" y="3624709"/>
            <a:ext cx="4914900" cy="1878806"/>
          </a:xfrm>
          <a:prstGeom prst="roundRect">
            <a:avLst>
              <a:gd name="adj" fmla="val 8112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2601575" y="3919984"/>
            <a:ext cx="47567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2601575" y="4472434"/>
            <a:ext cx="4454081" cy="773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each hypothesis's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representation at every layer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66800" y="5751165"/>
            <a:ext cx="5327600" cy="1878806"/>
          </a:xfrm>
          <a:prstGeom prst="roundRect">
            <a:avLst>
              <a:gd name="adj" fmla="val 8112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362075" y="6046440"/>
            <a:ext cx="52107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362075" y="6598890"/>
            <a:ext cx="4879162" cy="773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paraphrases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each hypothesis.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65850" y="5751165"/>
            <a:ext cx="438150" cy="1916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7099250" y="5751165"/>
            <a:ext cx="10121950" cy="1878806"/>
          </a:xfrm>
          <a:prstGeom prst="roundRect">
            <a:avLst>
              <a:gd name="adj" fmla="val 8112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7423100" y="6490543"/>
            <a:ext cx="276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dirty="0">
                <a:solidFill>
                  <a:srgbClr val="E7B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7851725" y="6506617"/>
            <a:ext cx="8747239" cy="406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premise with the paraphrase</a:t>
            </a:r>
            <a:r>
              <a:rPr lang="en-US" sz="21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compute every metric.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controlled comparison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704034"/>
            <a:ext cx="7934325" cy="1366838"/>
          </a:xfrm>
          <a:prstGeom prst="roundRect">
            <a:avLst>
              <a:gd name="adj" fmla="val 11150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09700" y="4008834"/>
            <a:ext cx="3473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dirty="0">
                <a:solidFill>
                  <a:srgbClr val="1F6E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871365" y="4008834"/>
            <a:ext cx="6990466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examples the model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gets right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enter, so we measure sensitivity, not ordinary errors.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86875" y="3704034"/>
            <a:ext cx="7934325" cy="1366838"/>
          </a:xfrm>
          <a:prstGeom prst="roundRect">
            <a:avLst>
              <a:gd name="adj" fmla="val 11150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29775" y="4008834"/>
            <a:ext cx="3473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dirty="0">
                <a:solidFill>
                  <a:srgbClr val="1F6E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091440" y="4008834"/>
            <a:ext cx="6990466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paraphrase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the relation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any change in answer is unjustified.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66800" y="5394722"/>
            <a:ext cx="17769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RE-TESTING, AN ANSWER IS EITHER</a:t>
            </a:r>
            <a:endParaRPr lang="en-US" sz="1600" b="1" dirty="0"/>
          </a:p>
        </p:txBody>
      </p:sp>
      <p:sp>
        <p:nvSpPr>
          <p:cNvPr id="11" name="Shape 9"/>
          <p:cNvSpPr/>
          <p:nvPr/>
        </p:nvSpPr>
        <p:spPr>
          <a:xfrm>
            <a:off x="1066800" y="5975747"/>
            <a:ext cx="7934325" cy="1612850"/>
          </a:xfrm>
          <a:prstGeom prst="roundRect">
            <a:avLst>
              <a:gd name="adj" fmla="val 9449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1066800" y="7579072"/>
            <a:ext cx="7934325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1066800" y="5975747"/>
            <a:ext cx="7934325" cy="57150"/>
          </a:xfrm>
          <a:prstGeom prst="rect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1066800" y="5975747"/>
            <a:ext cx="9525" cy="1612850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8991600" y="5975747"/>
            <a:ext cx="9525" cy="1612850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419225" y="6318647"/>
            <a:ext cx="795242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F5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19225" y="6928247"/>
            <a:ext cx="7952423" cy="403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correct answer, our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comparison.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286875" y="5975747"/>
            <a:ext cx="7934325" cy="1612850"/>
          </a:xfrm>
          <a:prstGeom prst="roundRect">
            <a:avLst>
              <a:gd name="adj" fmla="val 9449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9286875" y="7579072"/>
            <a:ext cx="7934325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9286875" y="5975747"/>
            <a:ext cx="7934325" cy="57150"/>
          </a:xfrm>
          <a:prstGeom prst="rect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Shape 19"/>
          <p:cNvSpPr/>
          <p:nvPr/>
        </p:nvSpPr>
        <p:spPr>
          <a:xfrm>
            <a:off x="9286875" y="5975747"/>
            <a:ext cx="9525" cy="1612850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17211675" y="5975747"/>
            <a:ext cx="9525" cy="1612850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9639300" y="6318647"/>
            <a:ext cx="795242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639300" y="6928247"/>
            <a:ext cx="7952423" cy="403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changed,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cases we investigate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04850"/>
            <a:ext cx="17769840" cy="62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kern="0" spc="-6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Metrics, grounded in the literature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66800" y="148084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3802707"/>
            <a:ext cx="8193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CONSISTENCY</a:t>
            </a:r>
            <a:endParaRPr lang="en-US" sz="1725" b="1" dirty="0"/>
          </a:p>
        </p:txBody>
      </p:sp>
      <p:sp>
        <p:nvSpPr>
          <p:cNvPr id="5" name="Shape 3"/>
          <p:cNvSpPr/>
          <p:nvPr/>
        </p:nvSpPr>
        <p:spPr>
          <a:xfrm>
            <a:off x="1066800" y="5298132"/>
            <a:ext cx="744855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066800" y="4298007"/>
            <a:ext cx="819340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Relaxed &amp; Strict Fooling Rate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6800" y="4821882"/>
            <a:ext cx="55178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Sensitivities &amp; Inconsistent Predictions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4821882"/>
            <a:ext cx="20745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Arakelyan, 2024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66800" y="6517332"/>
            <a:ext cx="744855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066800" y="5517207"/>
            <a:ext cx="819340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Paraphrastic Consistency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6800" y="6041082"/>
            <a:ext cx="2592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Are Errors…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55011" y="6041082"/>
            <a:ext cx="19363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Srikanth, 2024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66800" y="6736407"/>
            <a:ext cx="819340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Accuracy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66799" y="7260282"/>
            <a:ext cx="9840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7260282"/>
            <a:ext cx="20745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Zgreabănă, 2025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896350" y="1652290"/>
            <a:ext cx="8324850" cy="8063210"/>
          </a:xfrm>
          <a:prstGeom prst="roundRect">
            <a:avLst>
              <a:gd name="adj" fmla="val 2126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9334500" y="3994696"/>
            <a:ext cx="8193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REPRESENTATION</a:t>
            </a:r>
            <a:endParaRPr lang="en-US" sz="1725" b="1" dirty="0"/>
          </a:p>
        </p:txBody>
      </p:sp>
      <p:sp>
        <p:nvSpPr>
          <p:cNvPr id="18" name="Shape 16"/>
          <p:cNvSpPr/>
          <p:nvPr/>
        </p:nvSpPr>
        <p:spPr>
          <a:xfrm>
            <a:off x="9334500" y="5613946"/>
            <a:ext cx="744855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9334500" y="4528096"/>
            <a:ext cx="81934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Distance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334500" y="5109121"/>
            <a:ext cx="81934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AD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geometry across layers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334500" y="5871121"/>
            <a:ext cx="81934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Credibility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334500" y="6452146"/>
            <a:ext cx="30987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AD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k-Nearest Neighbors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5022711" y="6452146"/>
            <a:ext cx="19363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FC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Papernot, 2018</a:t>
            </a:r>
            <a:endParaRPr lang="en-US" sz="1650" b="1" dirty="0"/>
          </a:p>
        </p:txBody>
      </p:sp>
      <p:sp>
        <p:nvSpPr>
          <p:cNvPr id="24" name="Text 22"/>
          <p:cNvSpPr/>
          <p:nvPr/>
        </p:nvSpPr>
        <p:spPr>
          <a:xfrm>
            <a:off x="9334500" y="7014121"/>
            <a:ext cx="819340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AD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internal lenses that let us open the black box.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1 · Consistency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66800" y="1462980"/>
            <a:ext cx="177698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4A4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answer hold under paraphrasing?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066800" y="1967805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4011960"/>
            <a:ext cx="15304770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</a:t>
            </a:r>
            <a:r>
              <a:rPr lang="en-US" sz="24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and paraphrase </a:t>
            </a:r>
            <a:r>
              <a:rPr lang="en-US" sz="24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pair, is the answer the same? Neutral is included, Neutral staying Neutral still counts as consistent.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66800" y="5238601"/>
            <a:ext cx="7934325" cy="2413546"/>
          </a:xfrm>
          <a:prstGeom prst="roundRect">
            <a:avLst>
              <a:gd name="adj" fmla="val 631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1438275" y="5571976"/>
            <a:ext cx="79105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F5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Relaxed — any change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438275" y="6257776"/>
            <a:ext cx="2732484" cy="523875"/>
          </a:xfrm>
          <a:prstGeom prst="roundRect">
            <a:avLst>
              <a:gd name="adj" fmla="val 16364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647825" y="6362551"/>
            <a:ext cx="23953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 → Neutral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304109" y="6257776"/>
            <a:ext cx="3008709" cy="523875"/>
          </a:xfrm>
          <a:prstGeom prst="roundRect">
            <a:avLst>
              <a:gd name="adj" fmla="val 16364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513659" y="6362551"/>
            <a:ext cx="267987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→ Contradiction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38275" y="6972151"/>
            <a:ext cx="791051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counts as inconsistent.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86875" y="5238601"/>
            <a:ext cx="7934325" cy="2413546"/>
          </a:xfrm>
          <a:prstGeom prst="roundRect">
            <a:avLst>
              <a:gd name="adj" fmla="val 631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9658350" y="5571976"/>
            <a:ext cx="79105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— full flip only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658350" y="6257776"/>
            <a:ext cx="3378994" cy="523875"/>
          </a:xfrm>
          <a:prstGeom prst="roundRect">
            <a:avLst>
              <a:gd name="adj" fmla="val 16364"/>
            </a:avLst>
          </a:prstGeom>
          <a:solidFill>
            <a:srgbClr val="F1DDD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9867900" y="6362551"/>
            <a:ext cx="30612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 ↔ Contradiction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658350" y="6972151"/>
            <a:ext cx="791051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complete reversal between Entailment and Contradiction.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measures of output consistency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904952"/>
            <a:ext cx="3852863" cy="2873276"/>
          </a:xfrm>
          <a:prstGeom prst="roundRect">
            <a:avLst>
              <a:gd name="adj" fmla="val 530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362075" y="4457402"/>
            <a:ext cx="358854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B0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Relaxed Fooling Rate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1362075" y="5086052"/>
            <a:ext cx="3360182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pairs with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prediction.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62075" y="5968603"/>
            <a:ext cx="35885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67313" y="3904952"/>
            <a:ext cx="3852863" cy="2873276"/>
          </a:xfrm>
          <a:prstGeom prst="roundRect">
            <a:avLst>
              <a:gd name="adj" fmla="val 530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5462588" y="4457402"/>
            <a:ext cx="358854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B0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Fooling Rate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5462588" y="5086052"/>
            <a:ext cx="3360182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a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reversal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label.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5462588" y="5968603"/>
            <a:ext cx="35885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Arakelyan et al., 2024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67825" y="3904952"/>
            <a:ext cx="3852863" cy="2873276"/>
          </a:xfrm>
          <a:prstGeom prst="roundRect">
            <a:avLst>
              <a:gd name="adj" fmla="val 530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9563100" y="4219277"/>
            <a:ext cx="3360182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B0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Paraphrastic Consistency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9563100" y="5324177"/>
            <a:ext cx="3360182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a model stays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pair.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563100" y="6206728"/>
            <a:ext cx="35885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Srikanth et al., 2024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368338" y="3904952"/>
            <a:ext cx="3852863" cy="2873276"/>
          </a:xfrm>
          <a:prstGeom prst="roundRect">
            <a:avLst>
              <a:gd name="adj" fmla="val 5304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3663613" y="4457402"/>
            <a:ext cx="358854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B079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Accuracy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13663613" y="5086052"/>
            <a:ext cx="3360182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over a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set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paraphrases.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3663613" y="5968603"/>
            <a:ext cx="35885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Zgreabănă et al., 2025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800" y="9296400"/>
            <a:ext cx="17769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read the </a:t>
            </a:r>
            <a:r>
              <a:rPr lang="en-US" sz="21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To find the cause we now turn inward.</a:t>
            </a:r>
            <a:endParaRPr lang="en-US" sz="21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04850"/>
            <a:ext cx="17769840" cy="62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kern="0" spc="-6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2 · Layer Distance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66800" y="146179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4441329"/>
            <a:ext cx="7848600" cy="1322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measure the distance between the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and the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representation.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066800" y="5973068"/>
            <a:ext cx="78486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meaning is preserved they stay </a:t>
            </a:r>
            <a:r>
              <a:rPr lang="en-US" sz="2175" dirty="0">
                <a:solidFill>
                  <a:srgbClr val="1F5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look for the layer where they begin to </a:t>
            </a:r>
            <a:r>
              <a:rPr lang="en-US" sz="2175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apart</a:t>
            </a: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201150" y="4250382"/>
            <a:ext cx="8020050" cy="2714625"/>
          </a:xfrm>
          <a:prstGeom prst="roundRect">
            <a:avLst>
              <a:gd name="adj" fmla="val 6316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9591675" y="4602807"/>
            <a:ext cx="25083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kern="0" spc="142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PER LAYER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14437370" y="4583757"/>
            <a:ext cx="11680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C6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500" b="1" dirty="0">
                <a:solidFill>
                  <a:srgbClr val="2C6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500" b="1" dirty="0"/>
          </a:p>
        </p:txBody>
      </p:sp>
      <p:sp>
        <p:nvSpPr>
          <p:cNvPr id="9" name="Text 7"/>
          <p:cNvSpPr/>
          <p:nvPr/>
        </p:nvSpPr>
        <p:spPr>
          <a:xfrm>
            <a:off x="15700623" y="4583757"/>
            <a:ext cx="12062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05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500" b="1" dirty="0">
                <a:solidFill>
                  <a:srgbClr val="B05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</a:t>
            </a:r>
            <a:endParaRPr lang="en-US" sz="1500" b="1" dirty="0"/>
          </a:p>
        </p:txBody>
      </p:sp>
      <p:sp>
        <p:nvSpPr>
          <p:cNvPr id="10" name="Text 8"/>
          <p:cNvSpPr/>
          <p:nvPr/>
        </p:nvSpPr>
        <p:spPr>
          <a:xfrm>
            <a:off x="9591675" y="5050482"/>
            <a:ext cx="609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1088588" y="5079057"/>
            <a:ext cx="209550" cy="209550"/>
          </a:xfrm>
          <a:prstGeom prst="ellipse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11428065" y="5079057"/>
            <a:ext cx="209550" cy="209550"/>
          </a:xfrm>
          <a:prstGeom prst="ellipse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6049625" y="5055245"/>
            <a:ext cx="781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F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500" b="1" dirty="0"/>
          </a:p>
        </p:txBody>
      </p:sp>
      <p:sp>
        <p:nvSpPr>
          <p:cNvPr id="14" name="Text 12"/>
          <p:cNvSpPr/>
          <p:nvPr/>
        </p:nvSpPr>
        <p:spPr>
          <a:xfrm>
            <a:off x="9591675" y="5488632"/>
            <a:ext cx="609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1088588" y="5517207"/>
            <a:ext cx="209550" cy="209550"/>
          </a:xfrm>
          <a:prstGeom prst="ellipse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12333238" y="5517207"/>
            <a:ext cx="209550" cy="209550"/>
          </a:xfrm>
          <a:prstGeom prst="ellipse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16049625" y="5493395"/>
            <a:ext cx="781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A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parting</a:t>
            </a:r>
            <a:endParaRPr lang="en-US" sz="1500" b="1" dirty="0"/>
          </a:p>
        </p:txBody>
      </p:sp>
      <p:sp>
        <p:nvSpPr>
          <p:cNvPr id="18" name="Text 16"/>
          <p:cNvSpPr/>
          <p:nvPr/>
        </p:nvSpPr>
        <p:spPr>
          <a:xfrm>
            <a:off x="9591675" y="5926782"/>
            <a:ext cx="609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088588" y="5955357"/>
            <a:ext cx="209550" cy="209550"/>
          </a:xfrm>
          <a:prstGeom prst="ellipse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13804255" y="5955357"/>
            <a:ext cx="209550" cy="209550"/>
          </a:xfrm>
          <a:prstGeom prst="ellipse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6049625" y="5931545"/>
            <a:ext cx="781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</a:t>
            </a:r>
            <a:endParaRPr lang="en-US" sz="1500" b="1" dirty="0"/>
          </a:p>
        </p:txBody>
      </p:sp>
      <p:sp>
        <p:nvSpPr>
          <p:cNvPr id="22" name="Text 20"/>
          <p:cNvSpPr/>
          <p:nvPr/>
        </p:nvSpPr>
        <p:spPr>
          <a:xfrm>
            <a:off x="9591675" y="6364932"/>
            <a:ext cx="609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D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1088588" y="6393507"/>
            <a:ext cx="209550" cy="209550"/>
          </a:xfrm>
          <a:prstGeom prst="ellipse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5049054" y="6393507"/>
            <a:ext cx="209550" cy="209550"/>
          </a:xfrm>
          <a:prstGeom prst="ellipse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16049625" y="6369695"/>
            <a:ext cx="781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</a:t>
            </a:r>
            <a:endParaRPr lang="en-US" sz="15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04850"/>
            <a:ext cx="17769840" cy="62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kern="0" spc="-6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distance profile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66800" y="148084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3228082"/>
            <a:ext cx="9112300" cy="47782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712500" y="4441924"/>
            <a:ext cx="342900" cy="47625"/>
          </a:xfrm>
          <a:prstGeom prst="roundRect">
            <a:avLst>
              <a:gd name="adj" fmla="val 50000"/>
            </a:avLst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11207800" y="4299049"/>
            <a:ext cx="51821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F5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pairs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close at every layer.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10712500" y="5041999"/>
            <a:ext cx="342900" cy="47625"/>
          </a:xfrm>
          <a:prstGeom prst="roundRect">
            <a:avLst>
              <a:gd name="adj" fmla="val 50000"/>
            </a:avLst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11207800" y="4899124"/>
            <a:ext cx="56046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9C4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pairs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apart as depth grows.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10712500" y="5499199"/>
            <a:ext cx="650870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10712500" y="5775424"/>
            <a:ext cx="670396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where the orange line crosses the threshold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where the two meanings part ways. That layer is the diagnosis.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splitting layer tells us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1805880"/>
            <a:ext cx="17769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depth at which representations separate points to a different stage of the model.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1066800" y="4624090"/>
            <a:ext cx="5206901" cy="2654201"/>
          </a:xfrm>
          <a:prstGeom prst="roundRect">
            <a:avLst>
              <a:gd name="adj" fmla="val 5742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1066800" y="7268766"/>
            <a:ext cx="5206901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1066800" y="4624090"/>
            <a:ext cx="5206901" cy="57150"/>
          </a:xfrm>
          <a:prstGeom prst="rect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1066800" y="4624090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6264176" y="4624090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400175" y="5024140"/>
            <a:ext cx="49941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0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in lower layers</a:t>
            </a:r>
            <a:endParaRPr lang="en-US" sz="1650" b="1" dirty="0"/>
          </a:p>
        </p:txBody>
      </p:sp>
      <p:sp>
        <p:nvSpPr>
          <p:cNvPr id="11" name="Text 9"/>
          <p:cNvSpPr/>
          <p:nvPr/>
        </p:nvSpPr>
        <p:spPr>
          <a:xfrm>
            <a:off x="1400175" y="5471815"/>
            <a:ext cx="499416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400175" y="6195715"/>
            <a:ext cx="4676355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wordings are encoded far apart from the very start.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540401" y="4624090"/>
            <a:ext cx="5207050" cy="2654201"/>
          </a:xfrm>
          <a:prstGeom prst="roundRect">
            <a:avLst>
              <a:gd name="adj" fmla="val 5742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6540401" y="7268766"/>
            <a:ext cx="5207050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6540401" y="4624090"/>
            <a:ext cx="5207050" cy="57150"/>
          </a:xfrm>
          <a:prstGeom prst="rect">
            <a:avLst/>
          </a:prstGeom>
          <a:solidFill>
            <a:srgbClr val="C090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6540401" y="4624090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11737925" y="4624090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6873776" y="5024140"/>
            <a:ext cx="49943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in middle layers</a:t>
            </a:r>
            <a:endParaRPr lang="en-US" sz="1650" b="1" dirty="0"/>
          </a:p>
        </p:txBody>
      </p:sp>
      <p:sp>
        <p:nvSpPr>
          <p:cNvPr id="19" name="Text 17"/>
          <p:cNvSpPr/>
          <p:nvPr/>
        </p:nvSpPr>
        <p:spPr>
          <a:xfrm>
            <a:off x="6873776" y="5471815"/>
            <a:ext cx="49943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873776" y="6195715"/>
            <a:ext cx="4676509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Faulty inference pushes the two meanings apart mid-model.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2014150" y="4624090"/>
            <a:ext cx="5207050" cy="2654201"/>
          </a:xfrm>
          <a:prstGeom prst="roundRect">
            <a:avLst>
              <a:gd name="adj" fmla="val 5742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12014150" y="7268766"/>
            <a:ext cx="5207050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12014150" y="4624090"/>
            <a:ext cx="5207050" cy="57150"/>
          </a:xfrm>
          <a:prstGeom prst="rect">
            <a:avLst/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2014150" y="4624090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17211675" y="4624090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12347525" y="5024140"/>
            <a:ext cx="49943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C4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in upper layers</a:t>
            </a:r>
            <a:endParaRPr lang="en-US" sz="1650" b="1" dirty="0"/>
          </a:p>
        </p:txBody>
      </p:sp>
      <p:sp>
        <p:nvSpPr>
          <p:cNvPr id="27" name="Text 25"/>
          <p:cNvSpPr/>
          <p:nvPr/>
        </p:nvSpPr>
        <p:spPr>
          <a:xfrm>
            <a:off x="12347525" y="5471815"/>
            <a:ext cx="49943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2347525" y="6195715"/>
            <a:ext cx="4676509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Understood alike, but the final decision differs.</a:t>
            </a:r>
            <a:endParaRPr lang="en-US" sz="20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2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kern="0" spc="-6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3 · Credibility, step by step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066800" y="1480840"/>
            <a:ext cx="17769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36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Papernot &amp; McDaniel, 2018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66800" y="1928515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4409926"/>
            <a:ext cx="285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04950" y="4409926"/>
            <a:ext cx="930059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training, store each hypothesis's representation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layer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labeled bank.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6800" y="5433864"/>
            <a:ext cx="285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504950" y="5433864"/>
            <a:ext cx="930059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test paraphrase, at each layer find the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nearest neighbors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bank.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66800" y="6457801"/>
            <a:ext cx="285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504950" y="6457801"/>
            <a:ext cx="9300591" cy="7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is </a:t>
            </a:r>
            <a:r>
              <a:rPr lang="en-US" sz="210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supporters divided by total neighbors </a:t>
            </a:r>
            <a:r>
              <a:rPr lang="en-US" sz="21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where total is K times the number of layers.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010900" y="4366617"/>
            <a:ext cx="6210300" cy="2891730"/>
          </a:xfrm>
          <a:prstGeom prst="roundRect">
            <a:avLst>
              <a:gd name="adj" fmla="val 5929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1449050" y="4766667"/>
            <a:ext cx="5867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11449050" y="5233392"/>
            <a:ext cx="58674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layers × K=10 = 120 neighbors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49050" y="5839123"/>
            <a:ext cx="5334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11449050" y="6058198"/>
            <a:ext cx="54940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of 120 support Entailment </a:t>
            </a:r>
            <a:r>
              <a:rPr lang="en-US" sz="2100" dirty="0">
                <a:solidFill>
                  <a:srgbClr val="9F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credibility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credibility reveals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582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1767780"/>
            <a:ext cx="17769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paraphrase's credibility to the hypothesis's. The direction of change names the problem.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2057400" y="4424065"/>
            <a:ext cx="7636601" cy="2654201"/>
          </a:xfrm>
          <a:prstGeom prst="roundRect">
            <a:avLst>
              <a:gd name="adj" fmla="val 5742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2057400" y="7068741"/>
            <a:ext cx="7587326" cy="45719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2057400" y="4424065"/>
            <a:ext cx="7606376" cy="57150"/>
          </a:xfrm>
          <a:prstGeom prst="rect">
            <a:avLst/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2057400" y="4424065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9674126" y="4424065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2661556" y="4627568"/>
            <a:ext cx="7051495" cy="533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dirty="0">
                <a:solidFill>
                  <a:srgbClr val="1F50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Credibility drops   |   </a:t>
            </a:r>
            <a:r>
              <a:rPr lang="en-US" b="1" dirty="0">
                <a:solidFill>
                  <a:srgbClr val="9C4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Credibility</a:t>
            </a:r>
            <a:r>
              <a:rPr lang="en-US" sz="1650" b="1" dirty="0">
                <a:solidFill>
                  <a:srgbClr val="9C4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rises wrongly</a:t>
            </a:r>
            <a:endParaRPr lang="en-US" sz="1650" b="1" dirty="0"/>
          </a:p>
          <a:p>
            <a:pPr marL="0" indent="0" algn="l">
              <a:buNone/>
            </a:pPr>
            <a:endParaRPr lang="en-US" sz="1650" b="1" dirty="0"/>
          </a:p>
        </p:txBody>
      </p:sp>
      <p:sp>
        <p:nvSpPr>
          <p:cNvPr id="11" name="Text 9"/>
          <p:cNvSpPr/>
          <p:nvPr/>
        </p:nvSpPr>
        <p:spPr>
          <a:xfrm>
            <a:off x="3463925" y="5271790"/>
            <a:ext cx="499416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Generalization → Representation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3463925" y="5995690"/>
            <a:ext cx="4676355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paraphrase landed in a region the training data barely covers.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0833050" y="4424065"/>
            <a:ext cx="5207050" cy="2654201"/>
          </a:xfrm>
          <a:prstGeom prst="roundRect">
            <a:avLst>
              <a:gd name="adj" fmla="val 5742"/>
            </a:avLst>
          </a:prstGeom>
          <a:solidFill>
            <a:srgbClr val="FCFAF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10833050" y="7068741"/>
            <a:ext cx="5207050" cy="9525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10833050" y="4424065"/>
            <a:ext cx="5207050" cy="57150"/>
          </a:xfrm>
          <a:prstGeom prst="rect">
            <a:avLst/>
          </a:prstGeom>
          <a:solidFill>
            <a:srgbClr val="C090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10833050" y="4424065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16030575" y="4424065"/>
            <a:ext cx="9525" cy="2654201"/>
          </a:xfrm>
          <a:prstGeom prst="rect">
            <a:avLst/>
          </a:prstGeom>
          <a:solidFill>
            <a:srgbClr val="E5DCC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11166425" y="4824115"/>
            <a:ext cx="49943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Credibility unchanged</a:t>
            </a:r>
            <a:endParaRPr lang="en-US" sz="1650" b="1" dirty="0"/>
          </a:p>
        </p:txBody>
      </p:sp>
      <p:sp>
        <p:nvSpPr>
          <p:cNvPr id="27" name="Text 25"/>
          <p:cNvSpPr/>
          <p:nvPr/>
        </p:nvSpPr>
        <p:spPr>
          <a:xfrm>
            <a:off x="11166425" y="5271790"/>
            <a:ext cx="499433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1166425" y="5995690"/>
            <a:ext cx="4676509" cy="76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internal representation, only the final decision differs.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066800" y="9448800"/>
            <a:ext cx="177698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change counts as large when it exceeds the typical spread, derived per model and dataset pair.</a:t>
            </a:r>
            <a:endParaRPr lang="en-US" sz="15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62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kern="0" spc="-6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A · Can we predict it in advance?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66800" y="151894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4239369"/>
            <a:ext cx="8908161" cy="1322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inputs into two groups by credibility. In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separately 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what share later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 inconsistent 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paraphrasing?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066800" y="5836423"/>
            <a:ext cx="8648700" cy="1262063"/>
          </a:xfrm>
          <a:prstGeom prst="roundRect">
            <a:avLst>
              <a:gd name="adj" fmla="val 10566"/>
            </a:avLst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352550" y="6018757"/>
            <a:ext cx="8336661" cy="998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F2F7F5"/>
                </a:solidFill>
                <a:highlight>
                  <a:srgbClr val="2C6A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two bars are </a:t>
            </a:r>
            <a:r>
              <a:rPr lang="en-US" sz="21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group rates </a:t>
            </a:r>
            <a:r>
              <a:rPr lang="en-US" sz="2100" dirty="0">
                <a:solidFill>
                  <a:srgbClr val="F2F7F5"/>
                </a:solidFill>
                <a:highlight>
                  <a:srgbClr val="2C6A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not parts of one whole.</a:t>
            </a:r>
            <a:br>
              <a:rPr lang="en-US" sz="2100" dirty="0">
                <a:solidFill>
                  <a:srgbClr val="F2F7F5"/>
                </a:solidFill>
                <a:highlight>
                  <a:srgbClr val="2C6A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100" dirty="0">
                <a:solidFill>
                  <a:srgbClr val="F2F7F5"/>
                </a:solidFill>
                <a:highlight>
                  <a:srgbClr val="2C6A6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If credibility predicts fragility, the low group is far higher.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267950" y="3445520"/>
            <a:ext cx="6953250" cy="4381500"/>
          </a:xfrm>
          <a:prstGeom prst="roundRect">
            <a:avLst>
              <a:gd name="adj" fmla="val 3913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0391775" y="3740795"/>
            <a:ext cx="6705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kern="0" spc="158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PATTERN · OUR HYPOTHESIS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12351544" y="4159895"/>
            <a:ext cx="84296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9C4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12068175" y="4959995"/>
            <a:ext cx="1333500" cy="1272778"/>
          </a:xfrm>
          <a:prstGeom prst="roundRect">
            <a:avLst>
              <a:gd name="adj" fmla="val 7484"/>
            </a:avLst>
          </a:prstGeom>
          <a:solidFill>
            <a:srgbClr val="B054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2188577" y="6385173"/>
            <a:ext cx="109269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credibility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370844" y="4937373"/>
            <a:ext cx="84296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1F5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14087475" y="5737473"/>
            <a:ext cx="1333500" cy="495300"/>
          </a:xfrm>
          <a:prstGeom prst="roundRect">
            <a:avLst>
              <a:gd name="adj" fmla="val 19231"/>
            </a:avLst>
          </a:prstGeom>
          <a:solidFill>
            <a:srgbClr val="2C6A6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4207877" y="6385173"/>
            <a:ext cx="109269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credibility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96575" y="7112645"/>
            <a:ext cx="6096000" cy="9525"/>
          </a:xfrm>
          <a:prstGeom prst="rect">
            <a:avLst/>
          </a:prstGeom>
          <a:solidFill>
            <a:srgbClr val="D9CDB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10391775" y="7255520"/>
            <a:ext cx="6705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4A40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of each group that became inconsistent</a:t>
            </a:r>
            <a:endParaRPr lang="en-US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23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kern="0" spc="-65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B · From diagnosis to a fix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66800" y="157609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1066800" y="4403080"/>
            <a:ext cx="814101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credibility points to a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066800" y="5059710"/>
            <a:ext cx="18945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51508" y="5059710"/>
            <a:ext cx="732970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paraphrases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weak hypotheses to the training set.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66800" y="6088410"/>
            <a:ext cx="18945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09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51508" y="6088410"/>
            <a:ext cx="732970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retrain from scratch, then rebuild the representation bank.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8943975" y="3679329"/>
            <a:ext cx="8277225" cy="3932783"/>
          </a:xfrm>
          <a:prstGeom prst="roundRect">
            <a:avLst>
              <a:gd name="adj" fmla="val 4844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9382125" y="4079379"/>
            <a:ext cx="8141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AGAINST TWO BASELINES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9382125" y="4546104"/>
            <a:ext cx="2286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7B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705975" y="4546104"/>
            <a:ext cx="437697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model, untouched.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82125" y="5182344"/>
            <a:ext cx="22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7B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05975" y="5182344"/>
            <a:ext cx="728938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given the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number of random </a:t>
            </a:r>
            <a:r>
              <a:rPr lang="en-US" sz="2250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paraphrases.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82125" y="6191994"/>
            <a:ext cx="740092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9382125" y="6411069"/>
            <a:ext cx="7622953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targeted beats random is credibility an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informative signal </a:t>
            </a:r>
            <a:r>
              <a:rPr lang="en-US" sz="2175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more data.</a:t>
            </a:r>
            <a:endParaRPr lang="en-US" sz="21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lenses, one diagnosis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716834"/>
            <a:ext cx="7934325" cy="2041029"/>
          </a:xfrm>
          <a:prstGeom prst="roundRect">
            <a:avLst>
              <a:gd name="adj" fmla="val 7467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38275" y="4050209"/>
            <a:ext cx="79105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Distance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38275" y="4678859"/>
            <a:ext cx="7910512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representations split, at which layer.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286875" y="3716834"/>
            <a:ext cx="7934325" cy="2041029"/>
          </a:xfrm>
          <a:prstGeom prst="roundRect">
            <a:avLst>
              <a:gd name="adj" fmla="val 7467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58350" y="4050209"/>
            <a:ext cx="791051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Credibility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58350" y="4678859"/>
            <a:ext cx="740711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</a:t>
            </a:r>
            <a:r>
              <a:rPr lang="en-US" sz="20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r>
              <a:rPr lang="en-US" sz="20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representation lands, relative to the training data.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66800" y="6062663"/>
            <a:ext cx="16154400" cy="1513284"/>
          </a:xfrm>
          <a:prstGeom prst="roundRect">
            <a:avLst>
              <a:gd name="adj" fmla="val 10071"/>
            </a:avLst>
          </a:prstGeom>
          <a:solidFill>
            <a:srgbClr val="EFE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428750" y="6386513"/>
            <a:ext cx="15893415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measure different things, so they can </a:t>
            </a:r>
            <a:r>
              <a:rPr lang="en-US" sz="232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that is itself a finding. Semantic inconsistency may be </a:t>
            </a:r>
            <a:r>
              <a:rPr lang="en-US" sz="2325" i="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</a:t>
            </a:r>
            <a:r>
              <a:rPr lang="en-US" sz="232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both representation and classifier contributing. No single cause.</a:t>
            </a:r>
            <a:endParaRPr lang="en-US" sz="23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0" b="1" kern="0" spc="-67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story, in four parts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066800" y="1596330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066800" y="3238649"/>
            <a:ext cx="7934325" cy="2293441"/>
          </a:xfrm>
          <a:prstGeom prst="roundRect">
            <a:avLst>
              <a:gd name="adj" fmla="val 664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438275" y="3572024"/>
            <a:ext cx="79105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98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1438275" y="3981599"/>
            <a:ext cx="7407116" cy="12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NLI models flip predictions under meaning-preserving paraphrases, documented widely, but only at the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86875" y="3238649"/>
            <a:ext cx="7934325" cy="2293441"/>
          </a:xfrm>
          <a:prstGeom prst="roundRect">
            <a:avLst>
              <a:gd name="adj" fmla="val 6645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9658350" y="3644247"/>
            <a:ext cx="79105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kern="0" spc="198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9658350" y="4184452"/>
            <a:ext cx="7407116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has localized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where, inside the model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inconsistency originates.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66800" y="5817840"/>
            <a:ext cx="7934325" cy="2274391"/>
          </a:xfrm>
          <a:prstGeom prst="roundRect">
            <a:avLst>
              <a:gd name="adj" fmla="val 6701"/>
            </a:avLst>
          </a:prstGeom>
          <a:solidFill>
            <a:srgbClr val="FCFAF4"/>
          </a:solidFill>
          <a:ln w="9525">
            <a:solidFill>
              <a:srgbClr val="E5DCC9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438275" y="6344543"/>
            <a:ext cx="79105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kern="0" spc="198" dirty="0">
                <a:solidFill>
                  <a:srgbClr val="9A6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QUESTIONS</a:t>
            </a:r>
            <a:endParaRPr lang="en-US" b="1" dirty="0"/>
          </a:p>
        </p:txBody>
      </p:sp>
      <p:sp>
        <p:nvSpPr>
          <p:cNvPr id="12" name="Text 10"/>
          <p:cNvSpPr/>
          <p:nvPr/>
        </p:nvSpPr>
        <p:spPr>
          <a:xfrm>
            <a:off x="1438275" y="6754118"/>
            <a:ext cx="7407116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begin in the internal representations? Is </a:t>
            </a:r>
            <a:r>
              <a:rPr lang="en-US" sz="2250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credibility </a:t>
            </a:r>
            <a:r>
              <a:rPr lang="en-US" sz="2250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signal? In which layers?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86875" y="5817840"/>
            <a:ext cx="7934325" cy="2274391"/>
          </a:xfrm>
          <a:prstGeom prst="roundRect">
            <a:avLst>
              <a:gd name="adj" fmla="val 6701"/>
            </a:avLst>
          </a:prstGeom>
          <a:solidFill>
            <a:srgbClr val="22484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9648825" y="6141690"/>
            <a:ext cx="79314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kern="0" spc="198" dirty="0">
                <a:solidFill>
                  <a:srgbClr val="E7B7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ANGLE OF ATTACK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9648825" y="6551265"/>
            <a:ext cx="7426738" cy="12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adaptation of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k-NN to NLI </a:t>
            </a:r>
            <a:r>
              <a:rPr lang="en-US" sz="2250" dirty="0">
                <a:solidFill>
                  <a:srgbClr val="EDE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diagnose with Layer Distance and Credibility, then a targeted, baseline-controlled fix.</a:t>
            </a:r>
            <a:endParaRPr lang="en-US" sz="2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99" y="685800"/>
            <a:ext cx="3557451" cy="7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6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Bibliography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6535400" y="895350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– 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6800" y="1397198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2746474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81150" y="2746474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Bowman, S. R., Angeli, G., Potts, C., &amp; Manning, C. D. (2015).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Annotated Corpus for Learning Natural Language Inference.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EMNLP 2015, pages 632–642.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66800" y="3594199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81150" y="3594199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Williams, A., Nangia, N., &amp; Bowman, S. R. (2018).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Broad-Coverage Challenge Corpus for Sentence Understanding through Inference.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NAACL-HLT 2018, pages 1112–1122.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66800" y="4441924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81150" y="4441924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Nie, Y., Williams, A., Dinan, E., Bansal, M., Weston, J., &amp; Kiela, D. (2020).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NLI: A New Benchmark for Natural Language Understanding.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2020, pages 4885–4901.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66800" y="5289649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81150" y="5289649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Arakelyan, E., Liu, Z., &amp; Augenstein, I. (2024).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Sensitivities and Inconsistent Predictions: Measuring the Fragility of NLI Models.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EACL 2024, pages 432–444.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66800" y="6137374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581150" y="6137374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McCoy, R. T., Pavlick, E., &amp; Linzen, T. (2019).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for the Wrong Reasons: Diagnosing Syntactic Heuristics in Natural Language Inference.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2019, pages 3428–3448.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66800" y="6985099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81150" y="6985099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Glockner, M., Shwartz, V., &amp; Goldberg, Y. (2018).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NLI Systems with Sentences that Require Simple Lexical Inferences.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2018, pages 650–655.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66800" y="7832824"/>
            <a:ext cx="38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81150" y="7832824"/>
            <a:ext cx="1610925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Naik, A., Ravichander, A., Sadeh, N., Rose, C., &amp; Neubig, G. (2018).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 Evaluation for Natural Language Inference.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COLING 2018, pages 2340–2353.</a:t>
            </a:r>
            <a:endParaRPr lang="en-US" sz="18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99" y="685800"/>
            <a:ext cx="3648891" cy="7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61" dirty="0">
                <a:solidFill>
                  <a:srgbClr val="2C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Bibliography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6398180" y="895350"/>
            <a:ext cx="8992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– 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6800" y="1397198"/>
            <a:ext cx="666750" cy="38100"/>
          </a:xfrm>
          <a:prstGeom prst="rect">
            <a:avLst/>
          </a:prstGeom>
          <a:solidFill>
            <a:srgbClr val="C7912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66800" y="3222724"/>
            <a:ext cx="4381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8300" y="3222724"/>
            <a:ext cx="1605038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Richardson, K., Hu, H., Moss, L. S., &amp; Sabharwal, A. (2020).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Natural Language Inference Models through Semantic Fragments.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AAAI 2020.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66800" y="4070449"/>
            <a:ext cx="4381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38300" y="4070449"/>
            <a:ext cx="1605038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Srikanth, N., Carpuat, M., &amp; Rudinger, R. (2024).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Are Errors in Natural Language Reasoning Due to Paraphrastic Variability?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TACL, 12, pages 1143–1162.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66800" y="4918174"/>
            <a:ext cx="4381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38300" y="4918174"/>
            <a:ext cx="1605038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Zgreabănă, M., Deoskar, T., &amp; Abzianidze, L. (2025).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MERGE: Minimal Expression-Replacement Generalization Test for Natural Language Inference.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arXiv:2510.24295.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066800" y="5765899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38300" y="5765899"/>
            <a:ext cx="151744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Wu, W., &amp; Last, M. (2025).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 Self-Consistency Evaluation of NLI Models without Gold Labels.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EMNLP 2025, pages 22626–22642.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66800" y="6375499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38300" y="6375499"/>
            <a:ext cx="160375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Papernot, N., &amp; McDaniel, P. (2018).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k-Nearest Neighbors: Towards Confident, Interpretable and Robust Deep Learning.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arXiv:1803.04765.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66800" y="6985099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38300" y="6985099"/>
            <a:ext cx="1604808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Ulanovski, T., Blyachman, E., &amp; Bechler-Speicher, M. (2026).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LLM Final Representations with Inter-Layer Geometry.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arXiv:2603.22665.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66800" y="7594699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09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38300" y="7594699"/>
            <a:ext cx="146341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Arakelyan, E. (2025). </a:t>
            </a:r>
            <a:r>
              <a:rPr lang="en-US" sz="1875" dirty="0">
                <a:solidFill>
                  <a:srgbClr val="2C2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Inconsistencies and How to Mitigate Them in Deep Learning. </a:t>
            </a:r>
            <a:r>
              <a:rPr lang="en-US" sz="1875" dirty="0">
                <a:solidFill>
                  <a:srgbClr val="3D3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Thesis, University of Copenhagen.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5688</Words>
  <Application>Microsoft Office PowerPoint</Application>
  <PresentationFormat>מותאם אישית</PresentationFormat>
  <Paragraphs>494</Paragraphs>
  <Slides>38</Slides>
  <Notes>38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38</vt:i4>
      </vt:variant>
    </vt:vector>
  </HeadingPairs>
  <TitlesOfParts>
    <vt:vector size="42" baseType="lpstr">
      <vt:lpstr>Arial</vt:lpstr>
      <vt:lpstr>Courier New</vt:lpstr>
      <vt:lpstr>Georgia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לידור משיח</cp:lastModifiedBy>
  <cp:revision>15</cp:revision>
  <dcterms:created xsi:type="dcterms:W3CDTF">2026-06-21T14:22:50Z</dcterms:created>
  <dcterms:modified xsi:type="dcterms:W3CDTF">2026-07-01T10:33:33Z</dcterms:modified>
</cp:coreProperties>
</file>